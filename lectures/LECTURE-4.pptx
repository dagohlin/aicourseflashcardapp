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08" r:id="rId36"/>
    <p:sldId id="309" r:id="rId37"/>
    <p:sldId id="311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65" autoAdjust="0"/>
    <p:restoredTop sz="49684" autoAdjust="0"/>
  </p:normalViewPr>
  <p:slideViewPr>
    <p:cSldViewPr>
      <p:cViewPr varScale="1">
        <p:scale>
          <a:sx n="64" d="100"/>
          <a:sy n="64" d="100"/>
        </p:scale>
        <p:origin x="1749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8CB3E-3226-4641-BE49-A3B06D6B4530}" type="datetimeFigureOut">
              <a:rPr lang="sv-SE" smtClean="0"/>
              <a:t>2026-09-07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3A85F-231D-4B7E-A94B-5C409199C71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48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2799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7904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8177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25671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6990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6870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79756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0513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0848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2340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1425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91069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70094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98475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5957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3669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273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2656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0717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69285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78839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7722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75026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765452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32050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334866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04381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26806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29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8553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78992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19213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33553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428486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02017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ACEE-ECCE-1AAE-D1F5-43B13097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AC0F0-FC03-552E-53D3-BEA73C770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5F79C-1B48-D905-9A2B-E5125AB6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22B01-D9A8-B0E8-E571-407BB82C8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83173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42856-F9B4-0207-99E7-8FDFDC13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86C8F-E815-9AD4-B9C9-533A5510A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362EE-30CB-8637-C6EA-9DC1B531D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F5197-592B-8DD7-F27A-B83BF8F81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37849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A259-359F-F514-8A46-DA70A77D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F3CEF-AB42-B1A0-57F5-9FE411919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A3BF9-7C1C-BFDC-1095-2E2B09849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5A59C-B923-2E61-5811-31D0C59E0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41595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7669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39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30935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93988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32347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vi-VN" sz="1200" b="1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87451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899910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31621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601855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19523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980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848951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49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602866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50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685040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51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8167007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52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468268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53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871225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sv-S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sv-S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vi-V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sv-S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54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72661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3A85F-231D-4B7E-A94B-5C409199C71F}" type="slidenum">
              <a:rPr lang="sv-SE" smtClean="0"/>
              <a:t>55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0943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70927" y="1404391"/>
            <a:ext cx="4097020" cy="2329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0242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0242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344677"/>
            <a:ext cx="9497059" cy="1267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64919"/>
            <a:ext cx="10330815" cy="4119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0242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5257800" y="1295400"/>
            <a:ext cx="6019800" cy="45057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ctr">
              <a:lnSpc>
                <a:spcPts val="5830"/>
              </a:lnSpc>
              <a:spcBef>
                <a:spcPts val="835"/>
              </a:spcBef>
            </a:pPr>
            <a:r>
              <a:rPr lang="en-US" sz="5400" spc="-50" dirty="0"/>
              <a:t>Optimization </a:t>
            </a:r>
            <a:br>
              <a:rPr lang="en-US" sz="5400" spc="-50" dirty="0"/>
            </a:br>
            <a:r>
              <a:rPr lang="en-US" sz="5400" spc="-50" dirty="0"/>
              <a:t>And </a:t>
            </a:r>
            <a:br>
              <a:rPr lang="en-US" sz="5400" spc="-50" dirty="0"/>
            </a:br>
            <a:r>
              <a:rPr lang="en-US" sz="5400" spc="-50" dirty="0"/>
              <a:t>Genetic Algorithm</a:t>
            </a:r>
            <a:br>
              <a:rPr lang="en-US" sz="5400" spc="-50" dirty="0"/>
            </a:br>
            <a:br>
              <a:rPr lang="en-US" sz="5400" spc="-50" dirty="0"/>
            </a:br>
            <a:r>
              <a:rPr lang="en-US" sz="3600" dirty="0">
                <a:latin typeface="Calibri"/>
                <a:cs typeface="Calibri"/>
              </a:rPr>
              <a:t>Dr. Thi My Chinh Chu</a:t>
            </a:r>
            <a:br>
              <a:rPr lang="en-US" sz="3600" dirty="0">
                <a:latin typeface="Calibri"/>
                <a:cs typeface="Calibri"/>
              </a:rPr>
            </a:br>
            <a:r>
              <a:rPr lang="en-US" sz="3600" dirty="0">
                <a:latin typeface="Calibri"/>
                <a:cs typeface="Calibri"/>
              </a:rPr>
              <a:t>Dr. </a:t>
            </a:r>
            <a:r>
              <a:rPr lang="sv-SE" sz="3600" dirty="0" err="1">
                <a:latin typeface="Calibri"/>
                <a:cs typeface="Calibri"/>
              </a:rPr>
              <a:t>Huseyin</a:t>
            </a:r>
            <a:r>
              <a:rPr lang="sv-SE" sz="3600" dirty="0">
                <a:latin typeface="Calibri"/>
                <a:cs typeface="Calibri"/>
              </a:rPr>
              <a:t> </a:t>
            </a:r>
            <a:r>
              <a:rPr lang="sv-SE" sz="3600" dirty="0" err="1">
                <a:latin typeface="Calibri"/>
                <a:cs typeface="Calibri"/>
              </a:rPr>
              <a:t>Kusetogullari</a:t>
            </a:r>
            <a:endParaRPr sz="5400" dirty="0"/>
          </a:p>
        </p:txBody>
      </p:sp>
      <p:pic>
        <p:nvPicPr>
          <p:cNvPr id="4" name="object 4" descr="Image result for bth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6161" y="1783079"/>
            <a:ext cx="3054857" cy="3047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6507" y="6422580"/>
            <a:ext cx="97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9B9A97"/>
                </a:solidFill>
                <a:latin typeface="Garamond"/>
                <a:cs typeface="Garamond"/>
              </a:rPr>
              <a:t>2</a:t>
            </a:r>
            <a:endParaRPr sz="1200">
              <a:latin typeface="Garamond"/>
              <a:cs typeface="Garamond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922" y="228600"/>
            <a:ext cx="7028687" cy="111861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00665" y="359043"/>
            <a:ext cx="63931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latin typeface="Times New Roman"/>
                <a:cs typeface="Times New Roman"/>
              </a:rPr>
              <a:t>Simulation</a:t>
            </a:r>
            <a:r>
              <a:rPr sz="4000" b="0" spc="-40" dirty="0">
                <a:latin typeface="Times New Roman"/>
                <a:cs typeface="Times New Roman"/>
              </a:rPr>
              <a:t> </a:t>
            </a:r>
            <a:r>
              <a:rPr sz="4000" b="0" dirty="0">
                <a:latin typeface="Times New Roman"/>
                <a:cs typeface="Times New Roman"/>
              </a:rPr>
              <a:t>of</a:t>
            </a:r>
            <a:r>
              <a:rPr sz="4000" b="0" spc="-35" dirty="0">
                <a:latin typeface="Times New Roman"/>
                <a:cs typeface="Times New Roman"/>
              </a:rPr>
              <a:t> </a:t>
            </a:r>
            <a:r>
              <a:rPr sz="4000" b="0" dirty="0">
                <a:latin typeface="Times New Roman"/>
                <a:cs typeface="Times New Roman"/>
              </a:rPr>
              <a:t>natural</a:t>
            </a:r>
            <a:r>
              <a:rPr sz="4000" b="0" spc="-45" dirty="0">
                <a:latin typeface="Times New Roman"/>
                <a:cs typeface="Times New Roman"/>
              </a:rPr>
              <a:t> </a:t>
            </a:r>
            <a:r>
              <a:rPr sz="4000" b="0" spc="-10" dirty="0">
                <a:latin typeface="Times New Roman"/>
                <a:cs typeface="Times New Roman"/>
              </a:rPr>
              <a:t>evolution</a:t>
            </a:r>
            <a:endParaRPr sz="40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6038" y="1492758"/>
            <a:ext cx="8505190" cy="871855"/>
            <a:chOff x="1066038" y="1492758"/>
            <a:chExt cx="8505190" cy="87185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038" y="1514093"/>
              <a:ext cx="406145" cy="5295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98270" y="1492758"/>
              <a:ext cx="8172449" cy="5669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8269" y="1797557"/>
              <a:ext cx="3313175" cy="566927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066038" y="2590038"/>
            <a:ext cx="6450330" cy="567055"/>
            <a:chOff x="1066038" y="2590038"/>
            <a:chExt cx="6450330" cy="56705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038" y="2611374"/>
              <a:ext cx="406145" cy="5295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8270" y="2590038"/>
              <a:ext cx="6118097" cy="566927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066038" y="3382517"/>
            <a:ext cx="8341359" cy="1176655"/>
            <a:chOff x="1066038" y="3382517"/>
            <a:chExt cx="8341359" cy="117665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038" y="3403853"/>
              <a:ext cx="406145" cy="5295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98270" y="3382517"/>
              <a:ext cx="8008619" cy="5669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98269" y="3687317"/>
              <a:ext cx="7824215" cy="5669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84157" y="3687318"/>
              <a:ext cx="422909" cy="5669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98269" y="3992117"/>
              <a:ext cx="2496311" cy="56692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00665" y="1554080"/>
            <a:ext cx="8140700" cy="2829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44536A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July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1858,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Charles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Darwin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presented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theory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evolution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Linnean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Society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London.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44536A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beginning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revolution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biology.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1790" marR="169545" indent="-339090" algn="just">
              <a:lnSpc>
                <a:spcPct val="100000"/>
              </a:lnSpc>
              <a:buClr>
                <a:srgbClr val="44536A"/>
              </a:buClr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latin typeface="Times New Roman"/>
                <a:cs typeface="Times New Roman"/>
              </a:rPr>
              <a:t>Darwin’s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classical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theory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evolution,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together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Weismann’s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theory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	</a:t>
            </a:r>
            <a:r>
              <a:rPr sz="2000" dirty="0">
                <a:latin typeface="Times New Roman"/>
                <a:cs typeface="Times New Roman"/>
              </a:rPr>
              <a:t>natural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selection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Mendel’s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concept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genetics,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now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neo-	</a:t>
            </a:r>
            <a:r>
              <a:rPr sz="2000" dirty="0">
                <a:latin typeface="Times New Roman"/>
                <a:cs typeface="Times New Roman"/>
              </a:rPr>
              <a:t>Darwinian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paradigm.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14799" y="4854221"/>
            <a:ext cx="4139084" cy="17712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03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Evolutionary</a:t>
            </a:r>
            <a:r>
              <a:rPr spc="-170" dirty="0"/>
              <a:t> </a:t>
            </a:r>
            <a:r>
              <a:rPr spc="-10" dirty="0"/>
              <a:t>Computing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66038" y="1671066"/>
            <a:ext cx="8886825" cy="5033010"/>
            <a:chOff x="1066038" y="1671066"/>
            <a:chExt cx="8886825" cy="50330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3950" y="1671066"/>
              <a:ext cx="8828519" cy="12687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6038" y="1685544"/>
              <a:ext cx="8387333" cy="130682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81862" y="1709922"/>
              <a:ext cx="8712835" cy="1153160"/>
            </a:xfrm>
            <a:custGeom>
              <a:avLst/>
              <a:gdLst/>
              <a:ahLst/>
              <a:cxnLst/>
              <a:rect l="l" t="t" r="r" b="b"/>
              <a:pathLst>
                <a:path w="8712835" h="1153160">
                  <a:moveTo>
                    <a:pt x="8520544" y="0"/>
                  </a:moveTo>
                  <a:lnTo>
                    <a:pt x="192163" y="0"/>
                  </a:lnTo>
                  <a:lnTo>
                    <a:pt x="148100" y="5075"/>
                  </a:lnTo>
                  <a:lnTo>
                    <a:pt x="107652" y="19533"/>
                  </a:lnTo>
                  <a:lnTo>
                    <a:pt x="71973" y="42218"/>
                  </a:lnTo>
                  <a:lnTo>
                    <a:pt x="42214" y="71978"/>
                  </a:lnTo>
                  <a:lnTo>
                    <a:pt x="19530" y="107658"/>
                  </a:lnTo>
                  <a:lnTo>
                    <a:pt x="5074" y="148104"/>
                  </a:lnTo>
                  <a:lnTo>
                    <a:pt x="0" y="192163"/>
                  </a:lnTo>
                  <a:lnTo>
                    <a:pt x="0" y="960755"/>
                  </a:lnTo>
                  <a:lnTo>
                    <a:pt x="5074" y="1004813"/>
                  </a:lnTo>
                  <a:lnTo>
                    <a:pt x="19530" y="1045257"/>
                  </a:lnTo>
                  <a:lnTo>
                    <a:pt x="42214" y="1080935"/>
                  </a:lnTo>
                  <a:lnTo>
                    <a:pt x="71973" y="1110692"/>
                  </a:lnTo>
                  <a:lnTo>
                    <a:pt x="107652" y="1133375"/>
                  </a:lnTo>
                  <a:lnTo>
                    <a:pt x="148100" y="1147831"/>
                  </a:lnTo>
                  <a:lnTo>
                    <a:pt x="192163" y="1152906"/>
                  </a:lnTo>
                  <a:lnTo>
                    <a:pt x="8520544" y="1152906"/>
                  </a:lnTo>
                  <a:lnTo>
                    <a:pt x="8564607" y="1147831"/>
                  </a:lnTo>
                  <a:lnTo>
                    <a:pt x="8605055" y="1133375"/>
                  </a:lnTo>
                  <a:lnTo>
                    <a:pt x="8640734" y="1110692"/>
                  </a:lnTo>
                  <a:lnTo>
                    <a:pt x="8670493" y="1080935"/>
                  </a:lnTo>
                  <a:lnTo>
                    <a:pt x="8693177" y="1045257"/>
                  </a:lnTo>
                  <a:lnTo>
                    <a:pt x="8707633" y="1004813"/>
                  </a:lnTo>
                  <a:lnTo>
                    <a:pt x="8712708" y="960755"/>
                  </a:lnTo>
                  <a:lnTo>
                    <a:pt x="8712708" y="192163"/>
                  </a:lnTo>
                  <a:lnTo>
                    <a:pt x="8707633" y="148104"/>
                  </a:lnTo>
                  <a:lnTo>
                    <a:pt x="8693177" y="107658"/>
                  </a:lnTo>
                  <a:lnTo>
                    <a:pt x="8670493" y="71978"/>
                  </a:lnTo>
                  <a:lnTo>
                    <a:pt x="8640734" y="42218"/>
                  </a:lnTo>
                  <a:lnTo>
                    <a:pt x="8605055" y="19533"/>
                  </a:lnTo>
                  <a:lnTo>
                    <a:pt x="8564607" y="5075"/>
                  </a:lnTo>
                  <a:lnTo>
                    <a:pt x="8520544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950" y="2907791"/>
              <a:ext cx="8828519" cy="12694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038" y="2923032"/>
              <a:ext cx="8706611" cy="13068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81862" y="2946659"/>
              <a:ext cx="8712835" cy="1153795"/>
            </a:xfrm>
            <a:custGeom>
              <a:avLst/>
              <a:gdLst/>
              <a:ahLst/>
              <a:cxnLst/>
              <a:rect l="l" t="t" r="r" b="b"/>
              <a:pathLst>
                <a:path w="8712835" h="1153795">
                  <a:moveTo>
                    <a:pt x="8520430" y="0"/>
                  </a:moveTo>
                  <a:lnTo>
                    <a:pt x="192278" y="0"/>
                  </a:lnTo>
                  <a:lnTo>
                    <a:pt x="148192" y="5077"/>
                  </a:lnTo>
                  <a:lnTo>
                    <a:pt x="107722" y="19542"/>
                  </a:lnTo>
                  <a:lnTo>
                    <a:pt x="72021" y="42239"/>
                  </a:lnTo>
                  <a:lnTo>
                    <a:pt x="42243" y="72015"/>
                  </a:lnTo>
                  <a:lnTo>
                    <a:pt x="19544" y="107716"/>
                  </a:lnTo>
                  <a:lnTo>
                    <a:pt x="5078" y="148188"/>
                  </a:lnTo>
                  <a:lnTo>
                    <a:pt x="0" y="192277"/>
                  </a:lnTo>
                  <a:lnTo>
                    <a:pt x="0" y="961377"/>
                  </a:lnTo>
                  <a:lnTo>
                    <a:pt x="5078" y="1005467"/>
                  </a:lnTo>
                  <a:lnTo>
                    <a:pt x="19544" y="1045941"/>
                  </a:lnTo>
                  <a:lnTo>
                    <a:pt x="42243" y="1081644"/>
                  </a:lnTo>
                  <a:lnTo>
                    <a:pt x="72021" y="1111423"/>
                  </a:lnTo>
                  <a:lnTo>
                    <a:pt x="107722" y="1134123"/>
                  </a:lnTo>
                  <a:lnTo>
                    <a:pt x="148192" y="1148589"/>
                  </a:lnTo>
                  <a:lnTo>
                    <a:pt x="192278" y="1153667"/>
                  </a:lnTo>
                  <a:lnTo>
                    <a:pt x="8520430" y="1153667"/>
                  </a:lnTo>
                  <a:lnTo>
                    <a:pt x="8564519" y="1148589"/>
                  </a:lnTo>
                  <a:lnTo>
                    <a:pt x="8604991" y="1134123"/>
                  </a:lnTo>
                  <a:lnTo>
                    <a:pt x="8640692" y="1111423"/>
                  </a:lnTo>
                  <a:lnTo>
                    <a:pt x="8670468" y="1081644"/>
                  </a:lnTo>
                  <a:lnTo>
                    <a:pt x="8693165" y="1045941"/>
                  </a:lnTo>
                  <a:lnTo>
                    <a:pt x="8707630" y="1005467"/>
                  </a:lnTo>
                  <a:lnTo>
                    <a:pt x="8712708" y="961377"/>
                  </a:lnTo>
                  <a:lnTo>
                    <a:pt x="8712708" y="192277"/>
                  </a:lnTo>
                  <a:lnTo>
                    <a:pt x="8707630" y="148188"/>
                  </a:lnTo>
                  <a:lnTo>
                    <a:pt x="8693165" y="107716"/>
                  </a:lnTo>
                  <a:lnTo>
                    <a:pt x="8670468" y="72015"/>
                  </a:lnTo>
                  <a:lnTo>
                    <a:pt x="8640692" y="42239"/>
                  </a:lnTo>
                  <a:lnTo>
                    <a:pt x="8604991" y="19542"/>
                  </a:lnTo>
                  <a:lnTo>
                    <a:pt x="8564519" y="5077"/>
                  </a:lnTo>
                  <a:lnTo>
                    <a:pt x="852043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950" y="4145279"/>
              <a:ext cx="8828519" cy="12694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6038" y="4159757"/>
              <a:ext cx="8812529" cy="13075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81862" y="4184147"/>
              <a:ext cx="8712835" cy="1153795"/>
            </a:xfrm>
            <a:custGeom>
              <a:avLst/>
              <a:gdLst/>
              <a:ahLst/>
              <a:cxnLst/>
              <a:rect l="l" t="t" r="r" b="b"/>
              <a:pathLst>
                <a:path w="8712835" h="1153795">
                  <a:moveTo>
                    <a:pt x="8520430" y="0"/>
                  </a:moveTo>
                  <a:lnTo>
                    <a:pt x="192278" y="0"/>
                  </a:lnTo>
                  <a:lnTo>
                    <a:pt x="148192" y="5077"/>
                  </a:lnTo>
                  <a:lnTo>
                    <a:pt x="107722" y="19542"/>
                  </a:lnTo>
                  <a:lnTo>
                    <a:pt x="72021" y="42239"/>
                  </a:lnTo>
                  <a:lnTo>
                    <a:pt x="42243" y="72015"/>
                  </a:lnTo>
                  <a:lnTo>
                    <a:pt x="19544" y="107716"/>
                  </a:lnTo>
                  <a:lnTo>
                    <a:pt x="5078" y="148188"/>
                  </a:lnTo>
                  <a:lnTo>
                    <a:pt x="0" y="192278"/>
                  </a:lnTo>
                  <a:lnTo>
                    <a:pt x="0" y="961377"/>
                  </a:lnTo>
                  <a:lnTo>
                    <a:pt x="5078" y="1005467"/>
                  </a:lnTo>
                  <a:lnTo>
                    <a:pt x="19544" y="1045941"/>
                  </a:lnTo>
                  <a:lnTo>
                    <a:pt x="42243" y="1081644"/>
                  </a:lnTo>
                  <a:lnTo>
                    <a:pt x="72021" y="1111423"/>
                  </a:lnTo>
                  <a:lnTo>
                    <a:pt x="107722" y="1134123"/>
                  </a:lnTo>
                  <a:lnTo>
                    <a:pt x="148192" y="1148589"/>
                  </a:lnTo>
                  <a:lnTo>
                    <a:pt x="192278" y="1153668"/>
                  </a:lnTo>
                  <a:lnTo>
                    <a:pt x="8520430" y="1153668"/>
                  </a:lnTo>
                  <a:lnTo>
                    <a:pt x="8564519" y="1148589"/>
                  </a:lnTo>
                  <a:lnTo>
                    <a:pt x="8604991" y="1134123"/>
                  </a:lnTo>
                  <a:lnTo>
                    <a:pt x="8640692" y="1111423"/>
                  </a:lnTo>
                  <a:lnTo>
                    <a:pt x="8670468" y="1081644"/>
                  </a:lnTo>
                  <a:lnTo>
                    <a:pt x="8693165" y="1045941"/>
                  </a:lnTo>
                  <a:lnTo>
                    <a:pt x="8707630" y="1005467"/>
                  </a:lnTo>
                  <a:lnTo>
                    <a:pt x="8712708" y="961377"/>
                  </a:lnTo>
                  <a:lnTo>
                    <a:pt x="8712708" y="192278"/>
                  </a:lnTo>
                  <a:lnTo>
                    <a:pt x="8707630" y="148188"/>
                  </a:lnTo>
                  <a:lnTo>
                    <a:pt x="8693165" y="107716"/>
                  </a:lnTo>
                  <a:lnTo>
                    <a:pt x="8670468" y="72015"/>
                  </a:lnTo>
                  <a:lnTo>
                    <a:pt x="8640692" y="42239"/>
                  </a:lnTo>
                  <a:lnTo>
                    <a:pt x="8604991" y="19542"/>
                  </a:lnTo>
                  <a:lnTo>
                    <a:pt x="8564519" y="5077"/>
                  </a:lnTo>
                  <a:lnTo>
                    <a:pt x="852043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950" y="5382005"/>
              <a:ext cx="8828519" cy="12694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6038" y="5397246"/>
              <a:ext cx="8852915" cy="130682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81862" y="5420872"/>
              <a:ext cx="8712835" cy="1153795"/>
            </a:xfrm>
            <a:custGeom>
              <a:avLst/>
              <a:gdLst/>
              <a:ahLst/>
              <a:cxnLst/>
              <a:rect l="l" t="t" r="r" b="b"/>
              <a:pathLst>
                <a:path w="8712835" h="1153795">
                  <a:moveTo>
                    <a:pt x="8520430" y="0"/>
                  </a:moveTo>
                  <a:lnTo>
                    <a:pt x="192278" y="0"/>
                  </a:lnTo>
                  <a:lnTo>
                    <a:pt x="148192" y="5077"/>
                  </a:lnTo>
                  <a:lnTo>
                    <a:pt x="107722" y="19542"/>
                  </a:lnTo>
                  <a:lnTo>
                    <a:pt x="72021" y="42239"/>
                  </a:lnTo>
                  <a:lnTo>
                    <a:pt x="42243" y="72015"/>
                  </a:lnTo>
                  <a:lnTo>
                    <a:pt x="19544" y="107716"/>
                  </a:lnTo>
                  <a:lnTo>
                    <a:pt x="5078" y="148188"/>
                  </a:lnTo>
                  <a:lnTo>
                    <a:pt x="0" y="192278"/>
                  </a:lnTo>
                  <a:lnTo>
                    <a:pt x="0" y="961377"/>
                  </a:lnTo>
                  <a:lnTo>
                    <a:pt x="5078" y="1005467"/>
                  </a:lnTo>
                  <a:lnTo>
                    <a:pt x="19544" y="1045941"/>
                  </a:lnTo>
                  <a:lnTo>
                    <a:pt x="42243" y="1081644"/>
                  </a:lnTo>
                  <a:lnTo>
                    <a:pt x="72021" y="1111423"/>
                  </a:lnTo>
                  <a:lnTo>
                    <a:pt x="107722" y="1134123"/>
                  </a:lnTo>
                  <a:lnTo>
                    <a:pt x="148192" y="1148589"/>
                  </a:lnTo>
                  <a:lnTo>
                    <a:pt x="192278" y="1153668"/>
                  </a:lnTo>
                  <a:lnTo>
                    <a:pt x="8520430" y="1153668"/>
                  </a:lnTo>
                  <a:lnTo>
                    <a:pt x="8564519" y="1148589"/>
                  </a:lnTo>
                  <a:lnTo>
                    <a:pt x="8604991" y="1134123"/>
                  </a:lnTo>
                  <a:lnTo>
                    <a:pt x="8640692" y="1111423"/>
                  </a:lnTo>
                  <a:lnTo>
                    <a:pt x="8670468" y="1081644"/>
                  </a:lnTo>
                  <a:lnTo>
                    <a:pt x="8693165" y="1045941"/>
                  </a:lnTo>
                  <a:lnTo>
                    <a:pt x="8707630" y="1005467"/>
                  </a:lnTo>
                  <a:lnTo>
                    <a:pt x="8712708" y="961377"/>
                  </a:lnTo>
                  <a:lnTo>
                    <a:pt x="8712708" y="192278"/>
                  </a:lnTo>
                  <a:lnTo>
                    <a:pt x="8707630" y="148188"/>
                  </a:lnTo>
                  <a:lnTo>
                    <a:pt x="8693165" y="107716"/>
                  </a:lnTo>
                  <a:lnTo>
                    <a:pt x="8670468" y="72015"/>
                  </a:lnTo>
                  <a:lnTo>
                    <a:pt x="8640692" y="42239"/>
                  </a:lnTo>
                  <a:lnTo>
                    <a:pt x="8604991" y="19542"/>
                  </a:lnTo>
                  <a:lnTo>
                    <a:pt x="8564519" y="5077"/>
                  </a:lnTo>
                  <a:lnTo>
                    <a:pt x="852043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35736" y="1806568"/>
            <a:ext cx="8228965" cy="45834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467359">
              <a:lnSpc>
                <a:spcPts val="3180"/>
              </a:lnSpc>
              <a:spcBef>
                <a:spcPts val="455"/>
              </a:spcBef>
            </a:pPr>
            <a:r>
              <a:rPr sz="2900" dirty="0">
                <a:latin typeface="Calibri"/>
                <a:cs typeface="Calibri"/>
              </a:rPr>
              <a:t>Humans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have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evolved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(and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continue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evolve)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over </a:t>
            </a:r>
            <a:r>
              <a:rPr sz="2900" spc="-10" dirty="0">
                <a:latin typeface="Calibri"/>
                <a:cs typeface="Calibri"/>
              </a:rPr>
              <a:t>time….</a:t>
            </a:r>
            <a:endParaRPr sz="2900">
              <a:latin typeface="Calibri"/>
              <a:cs typeface="Calibri"/>
            </a:endParaRPr>
          </a:p>
          <a:p>
            <a:pPr marL="12700" marR="151765">
              <a:lnSpc>
                <a:spcPts val="3180"/>
              </a:lnSpc>
              <a:spcBef>
                <a:spcPts val="3379"/>
              </a:spcBef>
            </a:pPr>
            <a:r>
              <a:rPr sz="2900" dirty="0">
                <a:latin typeface="Calibri"/>
                <a:cs typeface="Calibri"/>
              </a:rPr>
              <a:t>We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presume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that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prehistoric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species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man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were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less </a:t>
            </a:r>
            <a:r>
              <a:rPr sz="2900" spc="-10" dirty="0">
                <a:latin typeface="Calibri"/>
                <a:cs typeface="Calibri"/>
              </a:rPr>
              <a:t>intelligent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than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we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are</a:t>
            </a:r>
            <a:endParaRPr sz="2900">
              <a:latin typeface="Calibri"/>
              <a:cs typeface="Calibri"/>
            </a:endParaRPr>
          </a:p>
          <a:p>
            <a:pPr marL="12700" marR="46990">
              <a:lnSpc>
                <a:spcPts val="3180"/>
              </a:lnSpc>
              <a:spcBef>
                <a:spcPts val="3379"/>
              </a:spcBef>
            </a:pPr>
            <a:r>
              <a:rPr sz="2900" dirty="0">
                <a:latin typeface="Calibri"/>
                <a:cs typeface="Calibri"/>
              </a:rPr>
              <a:t>As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conditions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on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earth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change,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species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become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extinct </a:t>
            </a:r>
            <a:r>
              <a:rPr sz="2900" dirty="0">
                <a:latin typeface="Calibri"/>
                <a:cs typeface="Calibri"/>
              </a:rPr>
              <a:t>(e.g.,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dinosaurs)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other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species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emerge</a:t>
            </a:r>
            <a:endParaRPr sz="2900">
              <a:latin typeface="Calibri"/>
              <a:cs typeface="Calibri"/>
            </a:endParaRPr>
          </a:p>
          <a:p>
            <a:pPr marL="12700" marR="5080">
              <a:lnSpc>
                <a:spcPts val="3180"/>
              </a:lnSpc>
              <a:spcBef>
                <a:spcPts val="3379"/>
              </a:spcBef>
            </a:pPr>
            <a:r>
              <a:rPr sz="2900" dirty="0">
                <a:latin typeface="Calibri"/>
                <a:cs typeface="Calibri"/>
              </a:rPr>
              <a:t>Can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we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model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this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process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use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”evolve”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strategy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in </a:t>
            </a:r>
            <a:r>
              <a:rPr sz="2900" dirty="0">
                <a:latin typeface="Calibri"/>
                <a:cs typeface="Calibri"/>
              </a:rPr>
              <a:t>new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programs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for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optimization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problems?</a:t>
            </a:r>
            <a:endParaRPr sz="29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844522" y="411314"/>
            <a:ext cx="2753879" cy="1192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76200"/>
            <a:ext cx="9497059" cy="1267459"/>
          </a:xfrm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210" dirty="0"/>
              <a:t> </a:t>
            </a:r>
            <a:r>
              <a:rPr spc="-10" dirty="0"/>
              <a:t>Background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4400" y="838200"/>
            <a:ext cx="8915400" cy="4376928"/>
            <a:chOff x="795527" y="364998"/>
            <a:chExt cx="10892155" cy="62217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527" y="1386077"/>
              <a:ext cx="8848343" cy="52006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35796" y="364998"/>
              <a:ext cx="2651758" cy="24063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2952" y="152400"/>
            <a:ext cx="9144000" cy="957794"/>
          </a:xfrm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Evolutionary</a:t>
            </a:r>
            <a:r>
              <a:rPr spc="-170" dirty="0"/>
              <a:t> </a:t>
            </a:r>
            <a:r>
              <a:rPr spc="-10" dirty="0"/>
              <a:t>Algorithms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66800" y="1752600"/>
            <a:ext cx="9476105" cy="4286885"/>
            <a:chOff x="787273" y="1761744"/>
            <a:chExt cx="9476105" cy="42868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6528" y="1761744"/>
              <a:ext cx="9086849" cy="42865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3623" y="3135249"/>
              <a:ext cx="2194560" cy="1920239"/>
            </a:xfrm>
            <a:custGeom>
              <a:avLst/>
              <a:gdLst/>
              <a:ahLst/>
              <a:cxnLst/>
              <a:rect l="l" t="t" r="r" b="b"/>
              <a:pathLst>
                <a:path w="2194560" h="1920239">
                  <a:moveTo>
                    <a:pt x="0" y="960119"/>
                  </a:moveTo>
                  <a:lnTo>
                    <a:pt x="1194" y="914922"/>
                  </a:lnTo>
                  <a:lnTo>
                    <a:pt x="4742" y="870262"/>
                  </a:lnTo>
                  <a:lnTo>
                    <a:pt x="10590" y="826187"/>
                  </a:lnTo>
                  <a:lnTo>
                    <a:pt x="18687" y="782741"/>
                  </a:lnTo>
                  <a:lnTo>
                    <a:pt x="28980" y="739972"/>
                  </a:lnTo>
                  <a:lnTo>
                    <a:pt x="41415" y="697925"/>
                  </a:lnTo>
                  <a:lnTo>
                    <a:pt x="55940" y="656646"/>
                  </a:lnTo>
                  <a:lnTo>
                    <a:pt x="72503" y="616182"/>
                  </a:lnTo>
                  <a:lnTo>
                    <a:pt x="91050" y="576578"/>
                  </a:lnTo>
                  <a:lnTo>
                    <a:pt x="111529" y="537882"/>
                  </a:lnTo>
                  <a:lnTo>
                    <a:pt x="133888" y="500138"/>
                  </a:lnTo>
                  <a:lnTo>
                    <a:pt x="158073" y="463392"/>
                  </a:lnTo>
                  <a:lnTo>
                    <a:pt x="184032" y="427692"/>
                  </a:lnTo>
                  <a:lnTo>
                    <a:pt x="211712" y="393084"/>
                  </a:lnTo>
                  <a:lnTo>
                    <a:pt x="241061" y="359612"/>
                  </a:lnTo>
                  <a:lnTo>
                    <a:pt x="272026" y="327324"/>
                  </a:lnTo>
                  <a:lnTo>
                    <a:pt x="304554" y="296265"/>
                  </a:lnTo>
                  <a:lnTo>
                    <a:pt x="338592" y="266482"/>
                  </a:lnTo>
                  <a:lnTo>
                    <a:pt x="374088" y="238020"/>
                  </a:lnTo>
                  <a:lnTo>
                    <a:pt x="410989" y="210926"/>
                  </a:lnTo>
                  <a:lnTo>
                    <a:pt x="449242" y="185246"/>
                  </a:lnTo>
                  <a:lnTo>
                    <a:pt x="488795" y="161026"/>
                  </a:lnTo>
                  <a:lnTo>
                    <a:pt x="529596" y="138312"/>
                  </a:lnTo>
                  <a:lnTo>
                    <a:pt x="571590" y="117150"/>
                  </a:lnTo>
                  <a:lnTo>
                    <a:pt x="614726" y="97587"/>
                  </a:lnTo>
                  <a:lnTo>
                    <a:pt x="658951" y="79667"/>
                  </a:lnTo>
                  <a:lnTo>
                    <a:pt x="704212" y="63439"/>
                  </a:lnTo>
                  <a:lnTo>
                    <a:pt x="750456" y="48947"/>
                  </a:lnTo>
                  <a:lnTo>
                    <a:pt x="797631" y="36237"/>
                  </a:lnTo>
                  <a:lnTo>
                    <a:pt x="845685" y="25357"/>
                  </a:lnTo>
                  <a:lnTo>
                    <a:pt x="894564" y="16351"/>
                  </a:lnTo>
                  <a:lnTo>
                    <a:pt x="944215" y="9266"/>
                  </a:lnTo>
                  <a:lnTo>
                    <a:pt x="994587" y="4149"/>
                  </a:lnTo>
                  <a:lnTo>
                    <a:pt x="1045626" y="1045"/>
                  </a:lnTo>
                  <a:lnTo>
                    <a:pt x="1097280" y="0"/>
                  </a:lnTo>
                  <a:lnTo>
                    <a:pt x="1148933" y="1045"/>
                  </a:lnTo>
                  <a:lnTo>
                    <a:pt x="1199972" y="4149"/>
                  </a:lnTo>
                  <a:lnTo>
                    <a:pt x="1250344" y="9266"/>
                  </a:lnTo>
                  <a:lnTo>
                    <a:pt x="1299995" y="16351"/>
                  </a:lnTo>
                  <a:lnTo>
                    <a:pt x="1348874" y="25357"/>
                  </a:lnTo>
                  <a:lnTo>
                    <a:pt x="1396928" y="36237"/>
                  </a:lnTo>
                  <a:lnTo>
                    <a:pt x="1444103" y="48947"/>
                  </a:lnTo>
                  <a:lnTo>
                    <a:pt x="1490347" y="63439"/>
                  </a:lnTo>
                  <a:lnTo>
                    <a:pt x="1535608" y="79667"/>
                  </a:lnTo>
                  <a:lnTo>
                    <a:pt x="1579833" y="97587"/>
                  </a:lnTo>
                  <a:lnTo>
                    <a:pt x="1622969" y="117150"/>
                  </a:lnTo>
                  <a:lnTo>
                    <a:pt x="1664963" y="138312"/>
                  </a:lnTo>
                  <a:lnTo>
                    <a:pt x="1705764" y="161026"/>
                  </a:lnTo>
                  <a:lnTo>
                    <a:pt x="1745317" y="185246"/>
                  </a:lnTo>
                  <a:lnTo>
                    <a:pt x="1783570" y="210926"/>
                  </a:lnTo>
                  <a:lnTo>
                    <a:pt x="1820471" y="238020"/>
                  </a:lnTo>
                  <a:lnTo>
                    <a:pt x="1855967" y="266482"/>
                  </a:lnTo>
                  <a:lnTo>
                    <a:pt x="1890005" y="296265"/>
                  </a:lnTo>
                  <a:lnTo>
                    <a:pt x="1922533" y="327324"/>
                  </a:lnTo>
                  <a:lnTo>
                    <a:pt x="1953498" y="359612"/>
                  </a:lnTo>
                  <a:lnTo>
                    <a:pt x="1982847" y="393084"/>
                  </a:lnTo>
                  <a:lnTo>
                    <a:pt x="2010527" y="427692"/>
                  </a:lnTo>
                  <a:lnTo>
                    <a:pt x="2036486" y="463392"/>
                  </a:lnTo>
                  <a:lnTo>
                    <a:pt x="2060671" y="500138"/>
                  </a:lnTo>
                  <a:lnTo>
                    <a:pt x="2083030" y="537882"/>
                  </a:lnTo>
                  <a:lnTo>
                    <a:pt x="2103509" y="576578"/>
                  </a:lnTo>
                  <a:lnTo>
                    <a:pt x="2122056" y="616182"/>
                  </a:lnTo>
                  <a:lnTo>
                    <a:pt x="2138619" y="656646"/>
                  </a:lnTo>
                  <a:lnTo>
                    <a:pt x="2153144" y="697925"/>
                  </a:lnTo>
                  <a:lnTo>
                    <a:pt x="2165579" y="739972"/>
                  </a:lnTo>
                  <a:lnTo>
                    <a:pt x="2175872" y="782741"/>
                  </a:lnTo>
                  <a:lnTo>
                    <a:pt x="2183969" y="826187"/>
                  </a:lnTo>
                  <a:lnTo>
                    <a:pt x="2189817" y="870262"/>
                  </a:lnTo>
                  <a:lnTo>
                    <a:pt x="2193365" y="914922"/>
                  </a:lnTo>
                  <a:lnTo>
                    <a:pt x="2194560" y="960119"/>
                  </a:lnTo>
                  <a:lnTo>
                    <a:pt x="2193365" y="1005317"/>
                  </a:lnTo>
                  <a:lnTo>
                    <a:pt x="2189817" y="1049977"/>
                  </a:lnTo>
                  <a:lnTo>
                    <a:pt x="2183969" y="1094052"/>
                  </a:lnTo>
                  <a:lnTo>
                    <a:pt x="2175872" y="1137498"/>
                  </a:lnTo>
                  <a:lnTo>
                    <a:pt x="2165579" y="1180267"/>
                  </a:lnTo>
                  <a:lnTo>
                    <a:pt x="2153144" y="1222314"/>
                  </a:lnTo>
                  <a:lnTo>
                    <a:pt x="2138619" y="1263593"/>
                  </a:lnTo>
                  <a:lnTo>
                    <a:pt x="2122056" y="1304057"/>
                  </a:lnTo>
                  <a:lnTo>
                    <a:pt x="2103509" y="1343661"/>
                  </a:lnTo>
                  <a:lnTo>
                    <a:pt x="2083030" y="1382357"/>
                  </a:lnTo>
                  <a:lnTo>
                    <a:pt x="2060671" y="1420101"/>
                  </a:lnTo>
                  <a:lnTo>
                    <a:pt x="2036486" y="1456847"/>
                  </a:lnTo>
                  <a:lnTo>
                    <a:pt x="2010527" y="1492547"/>
                  </a:lnTo>
                  <a:lnTo>
                    <a:pt x="1982847" y="1527155"/>
                  </a:lnTo>
                  <a:lnTo>
                    <a:pt x="1953498" y="1560627"/>
                  </a:lnTo>
                  <a:lnTo>
                    <a:pt x="1922533" y="1592915"/>
                  </a:lnTo>
                  <a:lnTo>
                    <a:pt x="1890005" y="1623974"/>
                  </a:lnTo>
                  <a:lnTo>
                    <a:pt x="1855967" y="1653757"/>
                  </a:lnTo>
                  <a:lnTo>
                    <a:pt x="1820471" y="1682219"/>
                  </a:lnTo>
                  <a:lnTo>
                    <a:pt x="1783570" y="1709313"/>
                  </a:lnTo>
                  <a:lnTo>
                    <a:pt x="1745317" y="1734993"/>
                  </a:lnTo>
                  <a:lnTo>
                    <a:pt x="1705764" y="1759213"/>
                  </a:lnTo>
                  <a:lnTo>
                    <a:pt x="1664963" y="1781927"/>
                  </a:lnTo>
                  <a:lnTo>
                    <a:pt x="1622969" y="1803089"/>
                  </a:lnTo>
                  <a:lnTo>
                    <a:pt x="1579833" y="1822652"/>
                  </a:lnTo>
                  <a:lnTo>
                    <a:pt x="1535608" y="1840572"/>
                  </a:lnTo>
                  <a:lnTo>
                    <a:pt x="1490347" y="1856800"/>
                  </a:lnTo>
                  <a:lnTo>
                    <a:pt x="1444103" y="1871292"/>
                  </a:lnTo>
                  <a:lnTo>
                    <a:pt x="1396928" y="1884002"/>
                  </a:lnTo>
                  <a:lnTo>
                    <a:pt x="1348874" y="1894882"/>
                  </a:lnTo>
                  <a:lnTo>
                    <a:pt x="1299995" y="1903888"/>
                  </a:lnTo>
                  <a:lnTo>
                    <a:pt x="1250344" y="1910973"/>
                  </a:lnTo>
                  <a:lnTo>
                    <a:pt x="1199972" y="1916090"/>
                  </a:lnTo>
                  <a:lnTo>
                    <a:pt x="1148933" y="1919194"/>
                  </a:lnTo>
                  <a:lnTo>
                    <a:pt x="1097280" y="1920239"/>
                  </a:lnTo>
                  <a:lnTo>
                    <a:pt x="1045626" y="1919194"/>
                  </a:lnTo>
                  <a:lnTo>
                    <a:pt x="994587" y="1916090"/>
                  </a:lnTo>
                  <a:lnTo>
                    <a:pt x="944215" y="1910973"/>
                  </a:lnTo>
                  <a:lnTo>
                    <a:pt x="894564" y="1903888"/>
                  </a:lnTo>
                  <a:lnTo>
                    <a:pt x="845685" y="1894882"/>
                  </a:lnTo>
                  <a:lnTo>
                    <a:pt x="797631" y="1884002"/>
                  </a:lnTo>
                  <a:lnTo>
                    <a:pt x="750456" y="1871292"/>
                  </a:lnTo>
                  <a:lnTo>
                    <a:pt x="704212" y="1856800"/>
                  </a:lnTo>
                  <a:lnTo>
                    <a:pt x="658951" y="1840572"/>
                  </a:lnTo>
                  <a:lnTo>
                    <a:pt x="614726" y="1822652"/>
                  </a:lnTo>
                  <a:lnTo>
                    <a:pt x="571590" y="1803089"/>
                  </a:lnTo>
                  <a:lnTo>
                    <a:pt x="529596" y="1781927"/>
                  </a:lnTo>
                  <a:lnTo>
                    <a:pt x="488795" y="1759213"/>
                  </a:lnTo>
                  <a:lnTo>
                    <a:pt x="449242" y="1734993"/>
                  </a:lnTo>
                  <a:lnTo>
                    <a:pt x="410989" y="1709313"/>
                  </a:lnTo>
                  <a:lnTo>
                    <a:pt x="374088" y="1682219"/>
                  </a:lnTo>
                  <a:lnTo>
                    <a:pt x="338592" y="1653757"/>
                  </a:lnTo>
                  <a:lnTo>
                    <a:pt x="304554" y="1623974"/>
                  </a:lnTo>
                  <a:lnTo>
                    <a:pt x="272026" y="1592915"/>
                  </a:lnTo>
                  <a:lnTo>
                    <a:pt x="241061" y="1560627"/>
                  </a:lnTo>
                  <a:lnTo>
                    <a:pt x="211712" y="1527155"/>
                  </a:lnTo>
                  <a:lnTo>
                    <a:pt x="184032" y="1492547"/>
                  </a:lnTo>
                  <a:lnTo>
                    <a:pt x="158073" y="1456847"/>
                  </a:lnTo>
                  <a:lnTo>
                    <a:pt x="133888" y="1420101"/>
                  </a:lnTo>
                  <a:lnTo>
                    <a:pt x="111529" y="1382357"/>
                  </a:lnTo>
                  <a:lnTo>
                    <a:pt x="91050" y="1343661"/>
                  </a:lnTo>
                  <a:lnTo>
                    <a:pt x="72503" y="1304057"/>
                  </a:lnTo>
                  <a:lnTo>
                    <a:pt x="55940" y="1263593"/>
                  </a:lnTo>
                  <a:lnTo>
                    <a:pt x="41415" y="1222314"/>
                  </a:lnTo>
                  <a:lnTo>
                    <a:pt x="28980" y="1180267"/>
                  </a:lnTo>
                  <a:lnTo>
                    <a:pt x="18687" y="1137498"/>
                  </a:lnTo>
                  <a:lnTo>
                    <a:pt x="10590" y="1094052"/>
                  </a:lnTo>
                  <a:lnTo>
                    <a:pt x="4742" y="1049977"/>
                  </a:lnTo>
                  <a:lnTo>
                    <a:pt x="1194" y="1005317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5850" y="660021"/>
            <a:ext cx="6477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Genetic</a:t>
            </a:r>
            <a:r>
              <a:rPr sz="3600" spc="-110" dirty="0"/>
              <a:t> </a:t>
            </a:r>
            <a:r>
              <a:rPr sz="3600" dirty="0"/>
              <a:t>algorithms</a:t>
            </a:r>
            <a:r>
              <a:rPr sz="3600" spc="-105" dirty="0"/>
              <a:t> </a:t>
            </a:r>
            <a:r>
              <a:rPr sz="3600" dirty="0"/>
              <a:t>Quick</a:t>
            </a:r>
            <a:r>
              <a:rPr sz="3600" spc="-110" dirty="0"/>
              <a:t> </a:t>
            </a:r>
            <a:r>
              <a:rPr sz="3600" spc="-10" dirty="0"/>
              <a:t>Overview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801793" y="1611960"/>
            <a:ext cx="7621270" cy="39065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Developed: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1970’s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Holland,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DeJong,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Goldberg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20" dirty="0">
                <a:latin typeface="Calibri"/>
                <a:cs typeface="Calibri"/>
              </a:rPr>
              <a:t>Typically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to: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discrete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optimization</a:t>
            </a:r>
            <a:endParaRPr sz="20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Attributed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features:</a:t>
            </a:r>
            <a:endParaRPr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not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fast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good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heuristic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optimization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problems</a:t>
            </a:r>
            <a:endParaRPr sz="20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Special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Features: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1920"/>
              </a:lnSpc>
              <a:spcBef>
                <a:spcPts val="495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20" dirty="0">
                <a:latin typeface="Calibri"/>
                <a:cs typeface="Calibri"/>
              </a:rPr>
              <a:t>Traditionally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emphasizes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good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parents (crossover)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many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variants,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reproduction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operators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Genetic</a:t>
            </a:r>
            <a:r>
              <a:rPr spc="-16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12"/>
            <a:ext cx="10244455" cy="22428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search-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optimization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principles</a:t>
            </a:r>
            <a:r>
              <a:rPr sz="2800" spc="-25" dirty="0">
                <a:latin typeface="Calibri"/>
                <a:cs typeface="Calibri"/>
              </a:rPr>
              <a:t> of </a:t>
            </a:r>
            <a:r>
              <a:rPr sz="2800" dirty="0">
                <a:latin typeface="Calibri"/>
                <a:cs typeface="Calibri"/>
              </a:rPr>
              <a:t>Genetics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Selection.</a:t>
            </a:r>
            <a:endParaRPr sz="2800" dirty="0">
              <a:latin typeface="Calibri"/>
              <a:cs typeface="Calibri"/>
            </a:endParaRPr>
          </a:p>
          <a:p>
            <a:pPr marL="241300" marR="12255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frequently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optimal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near-</a:t>
            </a:r>
            <a:r>
              <a:rPr sz="2800" dirty="0">
                <a:latin typeface="Calibri"/>
                <a:cs typeface="Calibri"/>
              </a:rPr>
              <a:t>optimal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solutions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NP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complex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problems.</a:t>
            </a:r>
            <a:endParaRPr sz="2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decrease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Genetic</a:t>
            </a:r>
            <a:r>
              <a:rPr spc="-180" dirty="0"/>
              <a:t> </a:t>
            </a:r>
            <a:r>
              <a:rPr dirty="0"/>
              <a:t>Algorithm:</a:t>
            </a:r>
            <a:r>
              <a:rPr spc="-190" dirty="0"/>
              <a:t> </a:t>
            </a:r>
            <a:r>
              <a:rPr spc="-10" dirty="0"/>
              <a:t>Optimization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Optimization</a:t>
            </a:r>
            <a:r>
              <a:rPr sz="28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problem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problem</a:t>
            </a:r>
            <a:r>
              <a:rPr sz="28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finding</a:t>
            </a:r>
            <a:r>
              <a:rPr sz="28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best</a:t>
            </a:r>
            <a:r>
              <a:rPr sz="28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solution</a:t>
            </a:r>
            <a:r>
              <a:rPr sz="28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00"/>
                </a:solidFill>
                <a:latin typeface="Calibri"/>
                <a:cs typeface="Calibri"/>
              </a:rPr>
              <a:t>from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all</a:t>
            </a:r>
            <a:r>
              <a:rPr sz="280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feasible</a:t>
            </a:r>
            <a:r>
              <a:rPr sz="28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solutions.</a:t>
            </a:r>
            <a:endParaRPr sz="2800">
              <a:latin typeface="Calibri"/>
              <a:cs typeface="Calibri"/>
            </a:endParaRPr>
          </a:p>
          <a:p>
            <a:pPr marL="241300" marR="97345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Optimization</a:t>
            </a:r>
            <a:r>
              <a:rPr sz="28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Problem:</a:t>
            </a:r>
            <a:r>
              <a:rPr sz="28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computational</a:t>
            </a:r>
            <a:r>
              <a:rPr sz="28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problem</a:t>
            </a:r>
            <a:r>
              <a:rPr sz="28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where</a:t>
            </a:r>
            <a:r>
              <a:rPr sz="28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28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try</a:t>
            </a:r>
            <a:r>
              <a:rPr sz="28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maximize</a:t>
            </a:r>
            <a:r>
              <a:rPr sz="28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or</a:t>
            </a:r>
            <a:r>
              <a:rPr sz="28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minimize</a:t>
            </a:r>
            <a:r>
              <a:rPr sz="28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00"/>
                </a:solidFill>
                <a:latin typeface="Calibri"/>
                <a:cs typeface="Calibri"/>
              </a:rPr>
              <a:t>some</a:t>
            </a:r>
            <a:r>
              <a:rPr sz="28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Calibri"/>
                <a:cs typeface="Calibri"/>
              </a:rPr>
              <a:t>value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Genetic</a:t>
            </a:r>
            <a:r>
              <a:rPr spc="-180" dirty="0"/>
              <a:t> </a:t>
            </a:r>
            <a:r>
              <a:rPr dirty="0"/>
              <a:t>Algorithm:</a:t>
            </a:r>
            <a:r>
              <a:rPr spc="-190" dirty="0"/>
              <a:t> </a:t>
            </a:r>
            <a:r>
              <a:rPr spc="-10" dirty="0"/>
              <a:t>Optimization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682" y="2613287"/>
            <a:ext cx="4267563" cy="3410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0849" y="2589657"/>
            <a:ext cx="4603843" cy="34099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2700" y="2182621"/>
            <a:ext cx="1280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Minimization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1270" y="2213025"/>
            <a:ext cx="1317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Maximization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03" rIns="0" bIns="0" rtlCol="0">
            <a:spAutoFit/>
          </a:bodyPr>
          <a:lstStyle/>
          <a:p>
            <a:pPr marL="364490">
              <a:lnSpc>
                <a:spcPct val="100000"/>
              </a:lnSpc>
              <a:spcBef>
                <a:spcPts val="95"/>
              </a:spcBef>
            </a:pPr>
            <a:r>
              <a:rPr dirty="0"/>
              <a:t>Used</a:t>
            </a:r>
            <a:r>
              <a:rPr spc="-100" dirty="0"/>
              <a:t> </a:t>
            </a:r>
            <a:r>
              <a:rPr dirty="0"/>
              <a:t>mainly</a:t>
            </a:r>
            <a:r>
              <a:rPr spc="-90" dirty="0"/>
              <a:t> </a:t>
            </a:r>
            <a:r>
              <a:rPr spc="-25" dirty="0"/>
              <a:t>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45869"/>
            <a:ext cx="2696210" cy="422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Finance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Economy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Vision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20" dirty="0">
                <a:latin typeface="Calibri"/>
                <a:cs typeface="Calibri"/>
              </a:rPr>
              <a:t>Pattern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Recognition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Medical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Communications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Scheduling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Planning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Routing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Autonomous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cars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more…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9939" y="428816"/>
            <a:ext cx="67297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Summary:</a:t>
            </a:r>
            <a:r>
              <a:rPr spc="-90" dirty="0"/>
              <a:t> </a:t>
            </a:r>
            <a:r>
              <a:rPr dirty="0"/>
              <a:t>Genetic</a:t>
            </a:r>
            <a:r>
              <a:rPr spc="-70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/>
          <p:nvPr/>
        </p:nvSpPr>
        <p:spPr>
          <a:xfrm>
            <a:off x="1981580" y="1601342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81580" y="2247519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81580" y="289369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81580" y="3540633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81580" y="4186809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81580" y="4832984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81580" y="5479922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600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78989" y="1431304"/>
            <a:ext cx="7696200" cy="4550410"/>
          </a:xfrm>
          <a:prstGeom prst="rect">
            <a:avLst/>
          </a:prstGeom>
        </p:spPr>
        <p:txBody>
          <a:bodyPr vert="horz" wrap="square" lIns="0" tIns="217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2900" dirty="0">
                <a:latin typeface="Calibri"/>
                <a:cs typeface="Calibri"/>
              </a:rPr>
              <a:t>A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biological</a:t>
            </a:r>
            <a:r>
              <a:rPr sz="2900" spc="-2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based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method</a:t>
            </a:r>
            <a:endParaRPr sz="2900">
              <a:latin typeface="Calibri"/>
              <a:cs typeface="Calibri"/>
            </a:endParaRPr>
          </a:p>
          <a:p>
            <a:pPr marL="12700" marR="5080">
              <a:lnSpc>
                <a:spcPts val="5090"/>
              </a:lnSpc>
              <a:spcBef>
                <a:spcPts val="434"/>
              </a:spcBef>
            </a:pPr>
            <a:r>
              <a:rPr sz="2900" dirty="0">
                <a:latin typeface="Calibri"/>
                <a:cs typeface="Calibri"/>
              </a:rPr>
              <a:t>Based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on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Darwin’s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theory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(Evolution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species) </a:t>
            </a:r>
            <a:r>
              <a:rPr sz="2900" dirty="0">
                <a:latin typeface="Calibri"/>
                <a:cs typeface="Calibri"/>
              </a:rPr>
              <a:t>Based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on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-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survival</a:t>
            </a:r>
            <a:r>
              <a:rPr sz="2900" b="1" spc="-4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of</a:t>
            </a:r>
            <a:r>
              <a:rPr sz="2900" b="1" spc="-4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the</a:t>
            </a:r>
            <a:r>
              <a:rPr sz="2900" b="1" spc="-3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fittest</a:t>
            </a:r>
            <a:r>
              <a:rPr sz="2900" b="1" spc="-40" dirty="0">
                <a:latin typeface="Calibri"/>
                <a:cs typeface="Calibri"/>
              </a:rPr>
              <a:t> </a:t>
            </a:r>
            <a:r>
              <a:rPr sz="2900" b="1" spc="-10" dirty="0">
                <a:latin typeface="Calibri"/>
                <a:cs typeface="Calibri"/>
              </a:rPr>
              <a:t>individual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900" dirty="0">
                <a:latin typeface="Calibri"/>
                <a:cs typeface="Calibri"/>
              </a:rPr>
              <a:t>Key</a:t>
            </a:r>
            <a:r>
              <a:rPr sz="2900" spc="-13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steps:</a:t>
            </a:r>
            <a:r>
              <a:rPr sz="2900" spc="-140" dirty="0">
                <a:latin typeface="Calibri"/>
                <a:cs typeface="Calibri"/>
              </a:rPr>
              <a:t> </a:t>
            </a:r>
            <a:r>
              <a:rPr sz="2900" i="1" dirty="0">
                <a:latin typeface="Calibri"/>
                <a:cs typeface="Calibri"/>
              </a:rPr>
              <a:t>reproduction,</a:t>
            </a:r>
            <a:r>
              <a:rPr sz="2900" i="1" spc="-130" dirty="0">
                <a:latin typeface="Calibri"/>
                <a:cs typeface="Calibri"/>
              </a:rPr>
              <a:t> </a:t>
            </a:r>
            <a:r>
              <a:rPr sz="2900" i="1" spc="-10" dirty="0">
                <a:latin typeface="Calibri"/>
                <a:cs typeface="Calibri"/>
              </a:rPr>
              <a:t>survive</a:t>
            </a:r>
            <a:endParaRPr sz="2900">
              <a:latin typeface="Calibri"/>
              <a:cs typeface="Calibri"/>
            </a:endParaRPr>
          </a:p>
          <a:p>
            <a:pPr marL="12700" marR="4141470">
              <a:lnSpc>
                <a:spcPts val="5090"/>
              </a:lnSpc>
              <a:spcBef>
                <a:spcPts val="235"/>
              </a:spcBef>
            </a:pPr>
            <a:r>
              <a:rPr sz="2900" spc="-25" dirty="0">
                <a:latin typeface="Calibri"/>
                <a:cs typeface="Calibri"/>
              </a:rPr>
              <a:t>Try</a:t>
            </a:r>
            <a:r>
              <a:rPr sz="2900" spc="-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-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simulate</a:t>
            </a:r>
            <a:r>
              <a:rPr sz="2900" spc="-90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life. </a:t>
            </a:r>
            <a:r>
              <a:rPr sz="2900" dirty="0">
                <a:latin typeface="Calibri"/>
                <a:cs typeface="Calibri"/>
              </a:rPr>
              <a:t>Individual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=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solution Environment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=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problem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Components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25" dirty="0"/>
              <a:t>GA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1274"/>
            <a:ext cx="3531235" cy="27444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solve,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...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Encoding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technique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ts val="3000"/>
              </a:lnSpc>
              <a:spcBef>
                <a:spcPts val="690"/>
              </a:spcBef>
              <a:buFont typeface="Arial"/>
              <a:buChar char="•"/>
              <a:tabLst>
                <a:tab pos="240665" algn="l"/>
              </a:tabLst>
            </a:pPr>
            <a:r>
              <a:rPr sz="2600" spc="-10" dirty="0">
                <a:latin typeface="Calibri"/>
                <a:cs typeface="Calibri"/>
              </a:rPr>
              <a:t>Initialization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procedure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520"/>
              </a:lnSpc>
            </a:pPr>
            <a:r>
              <a:rPr sz="2200" i="1" dirty="0">
                <a:latin typeface="Calibri"/>
                <a:cs typeface="Calibri"/>
              </a:rPr>
              <a:t>optimization</a:t>
            </a:r>
            <a:r>
              <a:rPr sz="2200" i="1" spc="-12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problem</a:t>
            </a:r>
            <a:endParaRPr sz="2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600" spc="-10" dirty="0">
                <a:latin typeface="Calibri"/>
                <a:cs typeface="Calibri"/>
              </a:rPr>
              <a:t>Evaluation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function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Selection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parents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7420" y="2183561"/>
            <a:ext cx="6296025" cy="99314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200" dirty="0">
                <a:latin typeface="Calibri"/>
                <a:cs typeface="Calibri"/>
              </a:rPr>
              <a:t>(</a:t>
            </a:r>
            <a:r>
              <a:rPr sz="2200" i="1" dirty="0">
                <a:latin typeface="Calibri"/>
                <a:cs typeface="Calibri"/>
              </a:rPr>
              <a:t>gene,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chromosome</a:t>
            </a:r>
            <a:r>
              <a:rPr sz="2200" spc="-1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7230">
              <a:lnSpc>
                <a:spcPct val="100000"/>
              </a:lnSpc>
              <a:spcBef>
                <a:spcPts val="1170"/>
              </a:spcBef>
            </a:pPr>
            <a:r>
              <a:rPr sz="2200" i="1" dirty="0">
                <a:latin typeface="Calibri"/>
                <a:cs typeface="Calibri"/>
              </a:rPr>
              <a:t>(creation),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Random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‘guesses’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of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the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solution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to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spc="-25" dirty="0">
                <a:latin typeface="Calibri"/>
                <a:cs typeface="Calibri"/>
              </a:rPr>
              <a:t>an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5728" y="3453815"/>
            <a:ext cx="6232525" cy="99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0485">
              <a:lnSpc>
                <a:spcPct val="144100"/>
              </a:lnSpc>
              <a:spcBef>
                <a:spcPts val="100"/>
              </a:spcBef>
            </a:pPr>
            <a:r>
              <a:rPr sz="2200" i="1" spc="-10" dirty="0">
                <a:latin typeface="Calibri"/>
                <a:cs typeface="Calibri"/>
              </a:rPr>
              <a:t>(environment),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calculates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how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good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guess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solution</a:t>
            </a:r>
            <a:r>
              <a:rPr sz="2200" i="1" spc="-25" dirty="0">
                <a:latin typeface="Calibri"/>
                <a:cs typeface="Calibri"/>
              </a:rPr>
              <a:t> is </a:t>
            </a:r>
            <a:r>
              <a:rPr sz="2200" i="1" spc="-10" dirty="0">
                <a:latin typeface="Calibri"/>
                <a:cs typeface="Calibri"/>
              </a:rPr>
              <a:t>(selection)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4518025"/>
            <a:ext cx="26562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Genetic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operators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7171" y="4568316"/>
            <a:ext cx="24117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spc="-20" dirty="0">
                <a:latin typeface="Calibri"/>
                <a:cs typeface="Calibri"/>
              </a:rPr>
              <a:t>(crossover, </a:t>
            </a:r>
            <a:r>
              <a:rPr sz="2200" i="1" spc="-10" dirty="0">
                <a:latin typeface="Calibri"/>
                <a:cs typeface="Calibri"/>
              </a:rPr>
              <a:t>mutation)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4139" y="4919293"/>
            <a:ext cx="7630159" cy="7010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method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mixing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good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better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Crossover.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introduce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diversity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population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Mutation.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5677027"/>
            <a:ext cx="27717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600" spc="-20" dirty="0">
                <a:latin typeface="Calibri"/>
                <a:cs typeface="Calibri"/>
              </a:rPr>
              <a:t>Parameter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settings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3214" y="5727319"/>
            <a:ext cx="198501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latin typeface="Calibri"/>
                <a:cs typeface="Calibri"/>
              </a:rPr>
              <a:t>(practice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and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art)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Genetic</a:t>
            </a:r>
            <a:r>
              <a:rPr spc="-16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482" y="1655889"/>
            <a:ext cx="5516880" cy="430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05"/>
              </a:lnSpc>
              <a:spcBef>
                <a:spcPts val="100"/>
              </a:spcBef>
            </a:pPr>
            <a:r>
              <a:rPr sz="1900" spc="-50" dirty="0">
                <a:latin typeface="Calibri"/>
                <a:cs typeface="Calibri"/>
              </a:rPr>
              <a:t>{</a:t>
            </a:r>
            <a:endParaRPr sz="1900">
              <a:latin typeface="Calibri"/>
              <a:cs typeface="Calibri"/>
            </a:endParaRPr>
          </a:p>
          <a:p>
            <a:pPr marL="469900" marR="1952625">
              <a:lnSpc>
                <a:spcPct val="96100"/>
              </a:lnSpc>
              <a:spcBef>
                <a:spcPts val="45"/>
              </a:spcBef>
            </a:pPr>
            <a:r>
              <a:rPr sz="2600" dirty="0">
                <a:latin typeface="Calibri"/>
                <a:cs typeface="Calibri"/>
              </a:rPr>
              <a:t>define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fitness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function; </a:t>
            </a:r>
            <a:r>
              <a:rPr sz="2600" dirty="0">
                <a:latin typeface="Calibri"/>
                <a:cs typeface="Calibri"/>
              </a:rPr>
              <a:t>initialize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population; evaluate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population;</a:t>
            </a:r>
            <a:endParaRPr sz="2600">
              <a:latin typeface="Calibri"/>
              <a:cs typeface="Calibri"/>
            </a:endParaRPr>
          </a:p>
          <a:p>
            <a:pPr marL="469900">
              <a:lnSpc>
                <a:spcPts val="2995"/>
              </a:lnSpc>
            </a:pPr>
            <a:r>
              <a:rPr sz="2600" dirty="0">
                <a:latin typeface="Calibri"/>
                <a:cs typeface="Calibri"/>
              </a:rPr>
              <a:t>while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TerminationCriteriaNotSatisfied</a:t>
            </a:r>
            <a:endParaRPr sz="2600">
              <a:latin typeface="Calibri"/>
              <a:cs typeface="Calibri"/>
            </a:endParaRPr>
          </a:p>
          <a:p>
            <a:pPr marL="469900">
              <a:lnSpc>
                <a:spcPts val="2205"/>
              </a:lnSpc>
              <a:spcBef>
                <a:spcPts val="80"/>
              </a:spcBef>
            </a:pPr>
            <a:r>
              <a:rPr sz="1900" spc="-50" dirty="0">
                <a:latin typeface="Calibri"/>
                <a:cs typeface="Calibri"/>
              </a:rPr>
              <a:t>{</a:t>
            </a:r>
            <a:endParaRPr sz="1900">
              <a:latin typeface="Calibri"/>
              <a:cs typeface="Calibri"/>
            </a:endParaRPr>
          </a:p>
          <a:p>
            <a:pPr marL="927100" marR="97790">
              <a:lnSpc>
                <a:spcPct val="96100"/>
              </a:lnSpc>
              <a:spcBef>
                <a:spcPts val="40"/>
              </a:spcBef>
            </a:pP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selection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technique;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Crossover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Mutation;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population;</a:t>
            </a:r>
            <a:endParaRPr sz="2600">
              <a:latin typeface="Calibri"/>
              <a:cs typeface="Calibri"/>
            </a:endParaRPr>
          </a:p>
          <a:p>
            <a:pPr marL="927100">
              <a:lnSpc>
                <a:spcPts val="2995"/>
              </a:lnSpc>
            </a:pPr>
            <a:r>
              <a:rPr sz="2600" spc="-10" dirty="0">
                <a:latin typeface="Calibri"/>
                <a:cs typeface="Calibri"/>
              </a:rPr>
              <a:t>evaluate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population;</a:t>
            </a:r>
            <a:endParaRPr sz="2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5"/>
              </a:spcBef>
            </a:pPr>
            <a:r>
              <a:rPr sz="1900" spc="-50" dirty="0"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900" spc="-50" dirty="0"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06411" y="754385"/>
            <a:ext cx="4213860" cy="5191760"/>
            <a:chOff x="7106411" y="754385"/>
            <a:chExt cx="4213860" cy="51917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6411" y="754385"/>
              <a:ext cx="3867149" cy="5191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2660" y="4125087"/>
              <a:ext cx="691134" cy="21869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622660" y="4125087"/>
              <a:ext cx="691515" cy="219075"/>
            </a:xfrm>
            <a:custGeom>
              <a:avLst/>
              <a:gdLst/>
              <a:ahLst/>
              <a:cxnLst/>
              <a:rect l="l" t="t" r="r" b="b"/>
              <a:pathLst>
                <a:path w="691515" h="219075">
                  <a:moveTo>
                    <a:pt x="0" y="109346"/>
                  </a:moveTo>
                  <a:lnTo>
                    <a:pt x="27155" y="66785"/>
                  </a:lnTo>
                  <a:lnTo>
                    <a:pt x="101212" y="32027"/>
                  </a:lnTo>
                  <a:lnTo>
                    <a:pt x="152355" y="18675"/>
                  </a:lnTo>
                  <a:lnTo>
                    <a:pt x="211054" y="8593"/>
                  </a:lnTo>
                  <a:lnTo>
                    <a:pt x="275921" y="2221"/>
                  </a:lnTo>
                  <a:lnTo>
                    <a:pt x="345567" y="0"/>
                  </a:lnTo>
                  <a:lnTo>
                    <a:pt x="415212" y="2221"/>
                  </a:lnTo>
                  <a:lnTo>
                    <a:pt x="480079" y="8593"/>
                  </a:lnTo>
                  <a:lnTo>
                    <a:pt x="538778" y="18675"/>
                  </a:lnTo>
                  <a:lnTo>
                    <a:pt x="589921" y="32027"/>
                  </a:lnTo>
                  <a:lnTo>
                    <a:pt x="632117" y="48211"/>
                  </a:lnTo>
                  <a:lnTo>
                    <a:pt x="684113" y="87310"/>
                  </a:lnTo>
                  <a:lnTo>
                    <a:pt x="691134" y="109346"/>
                  </a:lnTo>
                  <a:lnTo>
                    <a:pt x="684113" y="131383"/>
                  </a:lnTo>
                  <a:lnTo>
                    <a:pt x="632117" y="170482"/>
                  </a:lnTo>
                  <a:lnTo>
                    <a:pt x="589921" y="186666"/>
                  </a:lnTo>
                  <a:lnTo>
                    <a:pt x="538778" y="200018"/>
                  </a:lnTo>
                  <a:lnTo>
                    <a:pt x="480079" y="210100"/>
                  </a:lnTo>
                  <a:lnTo>
                    <a:pt x="415212" y="216472"/>
                  </a:lnTo>
                  <a:lnTo>
                    <a:pt x="345567" y="218693"/>
                  </a:lnTo>
                  <a:lnTo>
                    <a:pt x="275921" y="216472"/>
                  </a:lnTo>
                  <a:lnTo>
                    <a:pt x="211054" y="210100"/>
                  </a:lnTo>
                  <a:lnTo>
                    <a:pt x="152355" y="200018"/>
                  </a:lnTo>
                  <a:lnTo>
                    <a:pt x="101212" y="186666"/>
                  </a:lnTo>
                  <a:lnTo>
                    <a:pt x="59016" y="170482"/>
                  </a:lnTo>
                  <a:lnTo>
                    <a:pt x="7020" y="131383"/>
                  </a:lnTo>
                  <a:lnTo>
                    <a:pt x="0" y="10934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19415" y="4120133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libri"/>
                <a:cs typeface="Calibri"/>
              </a:rPr>
              <a:t>END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916036" y="3312795"/>
            <a:ext cx="76200" cy="762000"/>
            <a:chOff x="10916036" y="3312795"/>
            <a:chExt cx="76200" cy="762000"/>
          </a:xfrm>
        </p:grpSpPr>
        <p:sp>
          <p:nvSpPr>
            <p:cNvPr id="10" name="object 10"/>
            <p:cNvSpPr/>
            <p:nvPr/>
          </p:nvSpPr>
          <p:spPr>
            <a:xfrm>
              <a:off x="10954130" y="3312795"/>
              <a:ext cx="0" cy="698500"/>
            </a:xfrm>
            <a:custGeom>
              <a:avLst/>
              <a:gdLst/>
              <a:ahLst/>
              <a:cxnLst/>
              <a:rect l="l" t="t" r="r" b="b"/>
              <a:pathLst>
                <a:path h="698500">
                  <a:moveTo>
                    <a:pt x="0" y="0"/>
                  </a:moveTo>
                  <a:lnTo>
                    <a:pt x="0" y="698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16036" y="399859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176" rIns="0" bIns="0" rtlCol="0">
            <a:spAutoFit/>
          </a:bodyPr>
          <a:lstStyle/>
          <a:p>
            <a:pPr marL="52006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Genetic</a:t>
            </a:r>
            <a:r>
              <a:rPr sz="4000" spc="-90" dirty="0"/>
              <a:t> </a:t>
            </a:r>
            <a:r>
              <a:rPr sz="4000" spc="-10" dirty="0"/>
              <a:t>algorithms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71781" y="1839391"/>
          <a:ext cx="8001000" cy="413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Representation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Binary</a:t>
                      </a:r>
                      <a:r>
                        <a:rPr sz="2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strings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Recombination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25" dirty="0">
                          <a:latin typeface="Arial"/>
                          <a:cs typeface="Arial"/>
                        </a:rPr>
                        <a:t>N-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point</a:t>
                      </a:r>
                      <a:r>
                        <a:rPr sz="2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2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uniform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Mutation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3505" indent="-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Bitwise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bit-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flipping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fixed probability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Parent</a:t>
                      </a:r>
                      <a:r>
                        <a:rPr sz="2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selection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Fitness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Survivor</a:t>
                      </a:r>
                      <a:r>
                        <a:rPr sz="24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selection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397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All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2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some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children</a:t>
                      </a:r>
                      <a:r>
                        <a:rPr sz="2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replace parents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Speciality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Emphasis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crossover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9356" y="3304037"/>
            <a:ext cx="5240020" cy="2432685"/>
            <a:chOff x="2419356" y="3304037"/>
            <a:chExt cx="5240020" cy="2432685"/>
          </a:xfrm>
        </p:grpSpPr>
        <p:sp>
          <p:nvSpPr>
            <p:cNvPr id="3" name="object 3"/>
            <p:cNvSpPr/>
            <p:nvPr/>
          </p:nvSpPr>
          <p:spPr>
            <a:xfrm>
              <a:off x="5100066" y="3801770"/>
              <a:ext cx="2540635" cy="10795"/>
            </a:xfrm>
            <a:custGeom>
              <a:avLst/>
              <a:gdLst/>
              <a:ahLst/>
              <a:cxnLst/>
              <a:rect l="l" t="t" r="r" b="b"/>
              <a:pathLst>
                <a:path w="2540634" h="10795">
                  <a:moveTo>
                    <a:pt x="0" y="10515"/>
                  </a:moveTo>
                  <a:lnTo>
                    <a:pt x="254012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25621" y="3735565"/>
              <a:ext cx="114935" cy="133350"/>
            </a:xfrm>
            <a:custGeom>
              <a:avLst/>
              <a:gdLst/>
              <a:ahLst/>
              <a:cxnLst/>
              <a:rect l="l" t="t" r="r" b="b"/>
              <a:pathLst>
                <a:path w="114934" h="133350">
                  <a:moveTo>
                    <a:pt x="0" y="0"/>
                  </a:moveTo>
                  <a:lnTo>
                    <a:pt x="114566" y="66205"/>
                  </a:lnTo>
                  <a:lnTo>
                    <a:pt x="546" y="1333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38406" y="3323087"/>
              <a:ext cx="2939415" cy="2394585"/>
            </a:xfrm>
            <a:custGeom>
              <a:avLst/>
              <a:gdLst/>
              <a:ahLst/>
              <a:cxnLst/>
              <a:rect l="l" t="t" r="r" b="b"/>
              <a:pathLst>
                <a:path w="2939415" h="2394585">
                  <a:moveTo>
                    <a:pt x="508673" y="925753"/>
                  </a:moveTo>
                  <a:lnTo>
                    <a:pt x="327812" y="563968"/>
                  </a:lnTo>
                  <a:lnTo>
                    <a:pt x="700836" y="127685"/>
                  </a:lnTo>
                  <a:lnTo>
                    <a:pt x="1469517" y="276656"/>
                  </a:lnTo>
                  <a:lnTo>
                    <a:pt x="2215578" y="0"/>
                  </a:lnTo>
                  <a:lnTo>
                    <a:pt x="2554693" y="712939"/>
                  </a:lnTo>
                  <a:lnTo>
                    <a:pt x="2498178" y="1276908"/>
                  </a:lnTo>
                  <a:lnTo>
                    <a:pt x="2893809" y="1564208"/>
                  </a:lnTo>
                  <a:lnTo>
                    <a:pt x="2939034" y="2245220"/>
                  </a:lnTo>
                  <a:lnTo>
                    <a:pt x="2159050" y="2330348"/>
                  </a:lnTo>
                  <a:lnTo>
                    <a:pt x="1661680" y="1915363"/>
                  </a:lnTo>
                  <a:lnTo>
                    <a:pt x="1266037" y="2394204"/>
                  </a:lnTo>
                  <a:lnTo>
                    <a:pt x="452158" y="2021763"/>
                  </a:lnTo>
                  <a:lnTo>
                    <a:pt x="0" y="1787664"/>
                  </a:lnTo>
                  <a:lnTo>
                    <a:pt x="440855" y="1319466"/>
                  </a:lnTo>
                  <a:lnTo>
                    <a:pt x="293903" y="893826"/>
                  </a:lnTo>
                  <a:lnTo>
                    <a:pt x="508673" y="92575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67919" y="2613379"/>
            <a:ext cx="25596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Genotype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space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=</a:t>
            </a:r>
            <a:endParaRPr sz="24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{0,1}</a:t>
            </a:r>
            <a:r>
              <a:rPr sz="2400" spc="-15" baseline="24305" dirty="0">
                <a:latin typeface="Arial"/>
                <a:cs typeface="Arial"/>
              </a:rPr>
              <a:t>L</a:t>
            </a:r>
            <a:endParaRPr sz="2400" baseline="24305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768590" y="3225547"/>
            <a:ext cx="2543810" cy="2385060"/>
            <a:chOff x="7768590" y="3225547"/>
            <a:chExt cx="2543810" cy="2385060"/>
          </a:xfrm>
        </p:grpSpPr>
        <p:sp>
          <p:nvSpPr>
            <p:cNvPr id="8" name="object 8"/>
            <p:cNvSpPr/>
            <p:nvPr/>
          </p:nvSpPr>
          <p:spPr>
            <a:xfrm>
              <a:off x="7787640" y="3244597"/>
              <a:ext cx="2505710" cy="2346960"/>
            </a:xfrm>
            <a:custGeom>
              <a:avLst/>
              <a:gdLst/>
              <a:ahLst/>
              <a:cxnLst/>
              <a:rect l="l" t="t" r="r" b="b"/>
              <a:pathLst>
                <a:path w="2505709" h="2346960">
                  <a:moveTo>
                    <a:pt x="0" y="586740"/>
                  </a:moveTo>
                  <a:lnTo>
                    <a:pt x="586740" y="0"/>
                  </a:lnTo>
                  <a:lnTo>
                    <a:pt x="2505456" y="0"/>
                  </a:lnTo>
                  <a:lnTo>
                    <a:pt x="2505456" y="1760220"/>
                  </a:lnTo>
                  <a:lnTo>
                    <a:pt x="1918716" y="2346960"/>
                  </a:lnTo>
                  <a:lnTo>
                    <a:pt x="0" y="2346960"/>
                  </a:lnTo>
                  <a:lnTo>
                    <a:pt x="0" y="586740"/>
                  </a:lnTo>
                  <a:close/>
                </a:path>
                <a:path w="2505709" h="2346960">
                  <a:moveTo>
                    <a:pt x="0" y="586740"/>
                  </a:moveTo>
                  <a:lnTo>
                    <a:pt x="1918716" y="586740"/>
                  </a:lnTo>
                  <a:lnTo>
                    <a:pt x="2505456" y="0"/>
                  </a:lnTo>
                </a:path>
                <a:path w="2505709" h="2346960">
                  <a:moveTo>
                    <a:pt x="1918716" y="586740"/>
                  </a:moveTo>
                  <a:lnTo>
                    <a:pt x="1918716" y="23469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10881" y="4032123"/>
              <a:ext cx="2197100" cy="1483360"/>
            </a:xfrm>
            <a:custGeom>
              <a:avLst/>
              <a:gdLst/>
              <a:ahLst/>
              <a:cxnLst/>
              <a:rect l="l" t="t" r="r" b="b"/>
              <a:pathLst>
                <a:path w="2197100" h="1483360">
                  <a:moveTo>
                    <a:pt x="192024" y="1016507"/>
                  </a:moveTo>
                  <a:lnTo>
                    <a:pt x="1914905" y="1016507"/>
                  </a:lnTo>
                  <a:lnTo>
                    <a:pt x="1914905" y="1482852"/>
                  </a:lnTo>
                  <a:lnTo>
                    <a:pt x="192024" y="1482852"/>
                  </a:lnTo>
                  <a:lnTo>
                    <a:pt x="192024" y="1016507"/>
                  </a:lnTo>
                  <a:close/>
                </a:path>
                <a:path w="2197100" h="1483360">
                  <a:moveTo>
                    <a:pt x="0" y="505206"/>
                  </a:moveTo>
                  <a:lnTo>
                    <a:pt x="1722120" y="505206"/>
                  </a:lnTo>
                  <a:lnTo>
                    <a:pt x="1722120" y="972312"/>
                  </a:lnTo>
                  <a:lnTo>
                    <a:pt x="0" y="972312"/>
                  </a:lnTo>
                  <a:lnTo>
                    <a:pt x="0" y="505206"/>
                  </a:lnTo>
                  <a:close/>
                </a:path>
                <a:path w="2197100" h="1483360">
                  <a:moveTo>
                    <a:pt x="644651" y="0"/>
                  </a:moveTo>
                  <a:lnTo>
                    <a:pt x="2196846" y="0"/>
                  </a:lnTo>
                  <a:lnTo>
                    <a:pt x="2196846" y="467106"/>
                  </a:lnTo>
                  <a:lnTo>
                    <a:pt x="644651" y="467106"/>
                  </a:lnTo>
                  <a:lnTo>
                    <a:pt x="644651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31912" y="2602739"/>
            <a:ext cx="2381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Phenotype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space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3310" y="3013711"/>
            <a:ext cx="1295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Encoding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3310" y="3379471"/>
            <a:ext cx="2174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(representation)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52494" y="5226931"/>
            <a:ext cx="2140585" cy="171450"/>
            <a:chOff x="5452494" y="5226931"/>
            <a:chExt cx="2140585" cy="171450"/>
          </a:xfrm>
        </p:grpSpPr>
        <p:sp>
          <p:nvSpPr>
            <p:cNvPr id="14" name="object 14"/>
            <p:cNvSpPr/>
            <p:nvPr/>
          </p:nvSpPr>
          <p:spPr>
            <a:xfrm>
              <a:off x="5471540" y="5312663"/>
              <a:ext cx="2121535" cy="0"/>
            </a:xfrm>
            <a:custGeom>
              <a:avLst/>
              <a:gdLst/>
              <a:ahLst/>
              <a:cxnLst/>
              <a:rect l="l" t="t" r="r" b="b"/>
              <a:pathLst>
                <a:path w="2121534">
                  <a:moveTo>
                    <a:pt x="0" y="0"/>
                  </a:moveTo>
                  <a:lnTo>
                    <a:pt x="2121027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71544" y="5245981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133350"/>
                  </a:moveTo>
                  <a:lnTo>
                    <a:pt x="0" y="66675"/>
                  </a:lnTo>
                  <a:lnTo>
                    <a:pt x="1143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90041" y="3916791"/>
            <a:ext cx="4424680" cy="229489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3055620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latin typeface="Arial"/>
                <a:cs typeface="Arial"/>
              </a:rPr>
              <a:t>10010010</a:t>
            </a:r>
            <a:endParaRPr sz="2400">
              <a:latin typeface="Arial"/>
              <a:cs typeface="Arial"/>
            </a:endParaRPr>
          </a:p>
          <a:p>
            <a:pPr marL="2411730">
              <a:lnSpc>
                <a:spcPct val="100000"/>
              </a:lnSpc>
              <a:spcBef>
                <a:spcPts val="1100"/>
              </a:spcBef>
            </a:pPr>
            <a:r>
              <a:rPr sz="2400" spc="-10" dirty="0">
                <a:latin typeface="Arial"/>
                <a:cs typeface="Arial"/>
              </a:rPr>
              <a:t>010001001</a:t>
            </a:r>
            <a:endParaRPr sz="2400">
              <a:latin typeface="Arial"/>
              <a:cs typeface="Arial"/>
            </a:endParaRPr>
          </a:p>
          <a:p>
            <a:pPr marL="2603500">
              <a:lnSpc>
                <a:spcPct val="100000"/>
              </a:lnSpc>
              <a:spcBef>
                <a:spcPts val="1140"/>
              </a:spcBef>
            </a:pPr>
            <a:r>
              <a:rPr sz="2400" spc="-10" dirty="0">
                <a:latin typeface="Arial"/>
                <a:cs typeface="Arial"/>
              </a:rPr>
              <a:t>011101001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spc="-10" dirty="0">
                <a:latin typeface="Arial"/>
                <a:cs typeface="Arial"/>
              </a:rPr>
              <a:t>Decoding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(inverse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representation)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30565" y="3452240"/>
            <a:ext cx="1553210" cy="467359"/>
          </a:xfrm>
          <a:custGeom>
            <a:avLst/>
            <a:gdLst/>
            <a:ahLst/>
            <a:cxnLst/>
            <a:rect l="l" t="t" r="r" b="b"/>
            <a:pathLst>
              <a:path w="1553209" h="467360">
                <a:moveTo>
                  <a:pt x="0" y="0"/>
                </a:moveTo>
                <a:lnTo>
                  <a:pt x="1552955" y="0"/>
                </a:lnTo>
                <a:lnTo>
                  <a:pt x="1552955" y="467106"/>
                </a:lnTo>
                <a:lnTo>
                  <a:pt x="0" y="46710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409249" y="3476552"/>
            <a:ext cx="1381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10010001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3564" rIns="0" bIns="0" rtlCol="0">
            <a:spAutoFit/>
          </a:bodyPr>
          <a:lstStyle/>
          <a:p>
            <a:pPr marL="161226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Representation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Initial</a:t>
            </a:r>
            <a:r>
              <a:rPr spc="-75" dirty="0"/>
              <a:t> </a:t>
            </a:r>
            <a:r>
              <a:rPr spc="-10" dirty="0"/>
              <a:t>population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8835"/>
            <a:ext cx="8484235" cy="207010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Consist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chromosomes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solutions.</a:t>
            </a:r>
            <a:endParaRPr sz="2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Generated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randomly.</a:t>
            </a:r>
            <a:endParaRPr sz="2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process.</a:t>
            </a:r>
            <a:endParaRPr sz="2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numbers,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56301" y="5100446"/>
            <a:ext cx="1318260" cy="457834"/>
          </a:xfrm>
          <a:custGeom>
            <a:avLst/>
            <a:gdLst/>
            <a:ahLst/>
            <a:cxnLst/>
            <a:rect l="l" t="t" r="r" b="b"/>
            <a:pathLst>
              <a:path w="1318259" h="457835">
                <a:moveTo>
                  <a:pt x="1318260" y="0"/>
                </a:moveTo>
                <a:lnTo>
                  <a:pt x="1318260" y="0"/>
                </a:lnTo>
                <a:lnTo>
                  <a:pt x="0" y="0"/>
                </a:lnTo>
                <a:lnTo>
                  <a:pt x="0" y="457212"/>
                </a:lnTo>
                <a:lnTo>
                  <a:pt x="1318260" y="457212"/>
                </a:lnTo>
                <a:lnTo>
                  <a:pt x="13182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31605" y="5100446"/>
            <a:ext cx="889635" cy="457834"/>
          </a:xfrm>
          <a:custGeom>
            <a:avLst/>
            <a:gdLst/>
            <a:ahLst/>
            <a:cxnLst/>
            <a:rect l="l" t="t" r="r" b="b"/>
            <a:pathLst>
              <a:path w="889634" h="457835">
                <a:moveTo>
                  <a:pt x="889254" y="0"/>
                </a:moveTo>
                <a:lnTo>
                  <a:pt x="457200" y="0"/>
                </a:lnTo>
                <a:lnTo>
                  <a:pt x="432054" y="0"/>
                </a:lnTo>
                <a:lnTo>
                  <a:pt x="0" y="0"/>
                </a:lnTo>
                <a:lnTo>
                  <a:pt x="0" y="457212"/>
                </a:lnTo>
                <a:lnTo>
                  <a:pt x="432054" y="457212"/>
                </a:lnTo>
                <a:lnTo>
                  <a:pt x="457200" y="457212"/>
                </a:lnTo>
                <a:lnTo>
                  <a:pt x="889254" y="457212"/>
                </a:lnTo>
                <a:lnTo>
                  <a:pt x="8892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37294" y="5095684"/>
          <a:ext cx="7172318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73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16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656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590290" y="5918771"/>
            <a:ext cx="4904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16-</a:t>
            </a:r>
            <a:r>
              <a:rPr sz="1800" dirty="0">
                <a:latin typeface="Arial"/>
                <a:cs typeface="Arial"/>
              </a:rPr>
              <a:t>bit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binary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string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artificial</a:t>
            </a:r>
            <a:r>
              <a:rPr sz="1800" spc="-10" dirty="0">
                <a:latin typeface="Arial"/>
                <a:cs typeface="Arial"/>
              </a:rPr>
              <a:t> chromosome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Fitness</a:t>
            </a:r>
            <a:r>
              <a:rPr spc="-95" dirty="0"/>
              <a:t> </a:t>
            </a:r>
            <a:r>
              <a:rPr spc="-10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725"/>
            <a:ext cx="10358120" cy="3700372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40665" marR="5080" indent="-228600" algn="just">
              <a:lnSpc>
                <a:spcPct val="70000"/>
              </a:lnSpc>
              <a:spcBef>
                <a:spcPts val="1035"/>
              </a:spcBef>
              <a:buFont typeface="Arial"/>
              <a:buChar char="•"/>
              <a:tabLst>
                <a:tab pos="240665" algn="l"/>
              </a:tabLst>
            </a:pPr>
            <a:r>
              <a:rPr sz="2600" b="1" dirty="0">
                <a:latin typeface="Calibri"/>
                <a:cs typeface="Calibri"/>
              </a:rPr>
              <a:t>Definition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155" dirty="0"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Fitness</a:t>
            </a:r>
            <a:r>
              <a:rPr sz="2600" spc="155" dirty="0">
                <a:solidFill>
                  <a:srgbClr val="4471C4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Function</a:t>
            </a:r>
            <a:r>
              <a:rPr sz="2600" spc="155" dirty="0">
                <a:solidFill>
                  <a:srgbClr val="4471C4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(also</a:t>
            </a:r>
            <a:r>
              <a:rPr sz="2600" spc="160" dirty="0">
                <a:solidFill>
                  <a:srgbClr val="4471C4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known</a:t>
            </a:r>
            <a:r>
              <a:rPr sz="2600" spc="155" dirty="0">
                <a:solidFill>
                  <a:srgbClr val="4471C4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as</a:t>
            </a:r>
            <a:r>
              <a:rPr sz="2600" spc="155" dirty="0">
                <a:solidFill>
                  <a:srgbClr val="4471C4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2600" spc="155" dirty="0">
                <a:solidFill>
                  <a:srgbClr val="4471C4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Evaluation</a:t>
            </a:r>
            <a:r>
              <a:rPr sz="2600" spc="150" dirty="0">
                <a:solidFill>
                  <a:srgbClr val="4471C4"/>
                </a:solidFill>
                <a:latin typeface="Calibri"/>
                <a:cs typeface="Calibri"/>
              </a:rPr>
              <a:t>  </a:t>
            </a:r>
            <a:r>
              <a:rPr sz="2600" spc="-10" dirty="0">
                <a:solidFill>
                  <a:srgbClr val="4471C4"/>
                </a:solidFill>
                <a:latin typeface="Calibri"/>
                <a:cs typeface="Calibri"/>
              </a:rPr>
              <a:t>Function)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evaluates</a:t>
            </a:r>
            <a:r>
              <a:rPr sz="2600" spc="4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how</a:t>
            </a:r>
            <a:r>
              <a:rPr sz="2600" spc="4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close</a:t>
            </a:r>
            <a:r>
              <a:rPr sz="2600" spc="4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2600" spc="4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given</a:t>
            </a:r>
            <a:r>
              <a:rPr sz="2600" spc="4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solution</a:t>
            </a:r>
            <a:r>
              <a:rPr sz="2600" spc="4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is</a:t>
            </a:r>
            <a:r>
              <a:rPr sz="2600" spc="4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to</a:t>
            </a:r>
            <a:r>
              <a:rPr sz="2600" spc="4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2600" spc="4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optimum</a:t>
            </a:r>
            <a:r>
              <a:rPr sz="2600" spc="4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solution</a:t>
            </a:r>
            <a:r>
              <a:rPr sz="2600" spc="4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of</a:t>
            </a:r>
            <a:r>
              <a:rPr sz="2600" spc="4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471C4"/>
                </a:solidFill>
                <a:latin typeface="Calibri"/>
                <a:cs typeface="Calibri"/>
              </a:rPr>
              <a:t>the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desired</a:t>
            </a:r>
            <a:r>
              <a:rPr sz="2600" spc="-9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471C4"/>
                </a:solidFill>
                <a:latin typeface="Calibri"/>
                <a:cs typeface="Calibri"/>
              </a:rPr>
              <a:t>problem.</a:t>
            </a:r>
            <a:endParaRPr sz="2600" dirty="0">
              <a:latin typeface="Calibri"/>
              <a:cs typeface="Calibri"/>
            </a:endParaRPr>
          </a:p>
          <a:p>
            <a:pPr marL="240029" marR="6350" indent="-227965" algn="just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029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fitness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should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quantitatively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measure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fit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given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solution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solving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problem.</a:t>
            </a:r>
            <a:endParaRPr sz="2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fitness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should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clearly</a:t>
            </a:r>
            <a:r>
              <a:rPr sz="2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defined.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Should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able</a:t>
            </a:r>
            <a:r>
              <a:rPr sz="2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understandable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fitness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score</a:t>
            </a:r>
            <a:r>
              <a:rPr sz="2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calculated.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Each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problem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6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own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fitness</a:t>
            </a:r>
            <a:r>
              <a:rPr sz="26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function.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fitness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should</a:t>
            </a:r>
            <a:r>
              <a:rPr sz="2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developed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z="2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given</a:t>
            </a:r>
            <a:r>
              <a:rPr sz="2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problem.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Evaluation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53634" y="2820033"/>
            <a:ext cx="2286000" cy="609600"/>
            <a:chOff x="4953634" y="2820033"/>
            <a:chExt cx="2286000" cy="609600"/>
          </a:xfrm>
        </p:grpSpPr>
        <p:sp>
          <p:nvSpPr>
            <p:cNvPr id="4" name="object 4"/>
            <p:cNvSpPr/>
            <p:nvPr/>
          </p:nvSpPr>
          <p:spPr>
            <a:xfrm>
              <a:off x="4966334" y="2832733"/>
              <a:ext cx="2260600" cy="584200"/>
            </a:xfrm>
            <a:custGeom>
              <a:avLst/>
              <a:gdLst/>
              <a:ahLst/>
              <a:cxnLst/>
              <a:rect l="l" t="t" r="r" b="b"/>
              <a:pathLst>
                <a:path w="2260600" h="584200">
                  <a:moveTo>
                    <a:pt x="2089175" y="0"/>
                  </a:moveTo>
                  <a:lnTo>
                    <a:pt x="170916" y="0"/>
                  </a:lnTo>
                  <a:lnTo>
                    <a:pt x="0" y="170916"/>
                  </a:lnTo>
                  <a:lnTo>
                    <a:pt x="0" y="412775"/>
                  </a:lnTo>
                  <a:lnTo>
                    <a:pt x="170916" y="583692"/>
                  </a:lnTo>
                  <a:lnTo>
                    <a:pt x="2089175" y="583692"/>
                  </a:lnTo>
                  <a:lnTo>
                    <a:pt x="2260092" y="412775"/>
                  </a:lnTo>
                  <a:lnTo>
                    <a:pt x="2260092" y="170916"/>
                  </a:lnTo>
                  <a:lnTo>
                    <a:pt x="208917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6334" y="2832733"/>
              <a:ext cx="2260600" cy="584200"/>
            </a:xfrm>
            <a:custGeom>
              <a:avLst/>
              <a:gdLst/>
              <a:ahLst/>
              <a:cxnLst/>
              <a:rect l="l" t="t" r="r" b="b"/>
              <a:pathLst>
                <a:path w="2260600" h="584200">
                  <a:moveTo>
                    <a:pt x="0" y="170916"/>
                  </a:moveTo>
                  <a:lnTo>
                    <a:pt x="170916" y="0"/>
                  </a:lnTo>
                  <a:lnTo>
                    <a:pt x="2089175" y="0"/>
                  </a:lnTo>
                  <a:lnTo>
                    <a:pt x="2260092" y="170916"/>
                  </a:lnTo>
                  <a:lnTo>
                    <a:pt x="2260092" y="412775"/>
                  </a:lnTo>
                  <a:lnTo>
                    <a:pt x="2089175" y="583692"/>
                  </a:lnTo>
                  <a:lnTo>
                    <a:pt x="170916" y="583692"/>
                  </a:lnTo>
                  <a:lnTo>
                    <a:pt x="0" y="412775"/>
                  </a:lnTo>
                  <a:lnTo>
                    <a:pt x="0" y="17091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6939" y="2888233"/>
            <a:ext cx="10358120" cy="3009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evaluation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800" dirty="0">
              <a:latin typeface="Arial"/>
              <a:cs typeface="Arial"/>
            </a:endParaRPr>
          </a:p>
          <a:p>
            <a:pPr marL="240029" marR="5080" indent="-227965">
              <a:lnSpc>
                <a:spcPts val="3020"/>
              </a:lnSpc>
              <a:buFont typeface="Arial"/>
              <a:buChar char="•"/>
              <a:tabLst>
                <a:tab pos="241935" algn="l"/>
                <a:tab pos="1004569" algn="l"/>
                <a:tab pos="2593340" algn="l"/>
                <a:tab pos="4022090" algn="l"/>
                <a:tab pos="4419600" algn="l"/>
                <a:tab pos="6548120" algn="l"/>
                <a:tab pos="7319645" algn="l"/>
                <a:tab pos="8569960" algn="l"/>
                <a:tab pos="8996680" algn="l"/>
                <a:tab pos="9393555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evaluator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decodes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chromosome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assigns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fitness 	measure.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  <a:tab pos="982980" algn="l"/>
                <a:tab pos="2550795" algn="l"/>
                <a:tab pos="2977515" algn="l"/>
                <a:tab pos="3665854" algn="l"/>
                <a:tab pos="4487545" algn="l"/>
                <a:tab pos="5203825" algn="l"/>
                <a:tab pos="6002655" algn="l"/>
                <a:tab pos="7444105" algn="l"/>
                <a:tab pos="9159240" algn="l"/>
                <a:tab pos="9660890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evaluator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only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link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provides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evaluation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each </a:t>
            </a:r>
            <a:r>
              <a:rPr sz="2800" dirty="0">
                <a:latin typeface="Calibri"/>
                <a:cs typeface="Calibri"/>
              </a:rPr>
              <a:t>chromosome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child.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23282" y="1670685"/>
            <a:ext cx="2711450" cy="1492250"/>
            <a:chOff x="3423282" y="1670685"/>
            <a:chExt cx="2711450" cy="1492250"/>
          </a:xfrm>
        </p:grpSpPr>
        <p:sp>
          <p:nvSpPr>
            <p:cNvPr id="8" name="object 8"/>
            <p:cNvSpPr/>
            <p:nvPr/>
          </p:nvSpPr>
          <p:spPr>
            <a:xfrm>
              <a:off x="6096380" y="1670685"/>
              <a:ext cx="0" cy="1092200"/>
            </a:xfrm>
            <a:custGeom>
              <a:avLst/>
              <a:gdLst/>
              <a:ahLst/>
              <a:cxnLst/>
              <a:rect l="l" t="t" r="r" b="b"/>
              <a:pathLst>
                <a:path h="1092200">
                  <a:moveTo>
                    <a:pt x="0" y="109169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58284" y="27496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86785" y="3124581"/>
              <a:ext cx="1473200" cy="0"/>
            </a:xfrm>
            <a:custGeom>
              <a:avLst/>
              <a:gdLst/>
              <a:ahLst/>
              <a:cxnLst/>
              <a:rect l="l" t="t" r="r" b="b"/>
              <a:pathLst>
                <a:path w="1473200">
                  <a:moveTo>
                    <a:pt x="1472691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23282" y="308647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21102" y="2216594"/>
            <a:ext cx="1210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latin typeface="Times New Roman"/>
                <a:cs typeface="Times New Roman"/>
              </a:rPr>
              <a:t>evaluated children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7752" y="1835594"/>
            <a:ext cx="1092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latin typeface="Times New Roman"/>
                <a:cs typeface="Times New Roman"/>
              </a:rPr>
              <a:t>modified children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10584"/>
            <a:ext cx="24403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Population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626690"/>
            <a:ext cx="3517265" cy="127571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800" dirty="0">
                <a:latin typeface="Calibri"/>
                <a:cs typeface="Calibri"/>
              </a:rPr>
              <a:t>Chromosomes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could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be:</a:t>
            </a:r>
            <a:endParaRPr sz="280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23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Bit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strings</a:t>
            </a:r>
            <a:endParaRPr sz="240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Real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9883" y="3090037"/>
            <a:ext cx="2805430" cy="8121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904875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Calibri"/>
                <a:cs typeface="Calibri"/>
              </a:rPr>
              <a:t>(0101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...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1100)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400" dirty="0">
                <a:latin typeface="Calibri"/>
                <a:cs typeface="Calibri"/>
              </a:rPr>
              <a:t>(43.2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33.1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...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0.0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89.2)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53127" y="1524129"/>
            <a:ext cx="2286635" cy="610235"/>
            <a:chOff x="4953127" y="1524129"/>
            <a:chExt cx="2286635" cy="610235"/>
          </a:xfrm>
        </p:grpSpPr>
        <p:sp>
          <p:nvSpPr>
            <p:cNvPr id="6" name="object 6"/>
            <p:cNvSpPr/>
            <p:nvPr/>
          </p:nvSpPr>
          <p:spPr>
            <a:xfrm>
              <a:off x="4959477" y="1530479"/>
              <a:ext cx="2273935" cy="597535"/>
            </a:xfrm>
            <a:custGeom>
              <a:avLst/>
              <a:gdLst/>
              <a:ahLst/>
              <a:cxnLst/>
              <a:rect l="l" t="t" r="r" b="b"/>
              <a:pathLst>
                <a:path w="2273934" h="597535">
                  <a:moveTo>
                    <a:pt x="2098878" y="0"/>
                  </a:moveTo>
                  <a:lnTo>
                    <a:pt x="174929" y="0"/>
                  </a:lnTo>
                  <a:lnTo>
                    <a:pt x="0" y="174929"/>
                  </a:lnTo>
                  <a:lnTo>
                    <a:pt x="0" y="422478"/>
                  </a:lnTo>
                  <a:lnTo>
                    <a:pt x="174929" y="597408"/>
                  </a:lnTo>
                  <a:lnTo>
                    <a:pt x="2098878" y="597408"/>
                  </a:lnTo>
                  <a:lnTo>
                    <a:pt x="2273808" y="422478"/>
                  </a:lnTo>
                  <a:lnTo>
                    <a:pt x="2273808" y="174929"/>
                  </a:lnTo>
                  <a:lnTo>
                    <a:pt x="209887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59477" y="1530479"/>
              <a:ext cx="2273935" cy="597535"/>
            </a:xfrm>
            <a:custGeom>
              <a:avLst/>
              <a:gdLst/>
              <a:ahLst/>
              <a:cxnLst/>
              <a:rect l="l" t="t" r="r" b="b"/>
              <a:pathLst>
                <a:path w="2273934" h="597535">
                  <a:moveTo>
                    <a:pt x="0" y="174929"/>
                  </a:moveTo>
                  <a:lnTo>
                    <a:pt x="174929" y="0"/>
                  </a:lnTo>
                  <a:lnTo>
                    <a:pt x="2098878" y="0"/>
                  </a:lnTo>
                  <a:lnTo>
                    <a:pt x="2273808" y="174929"/>
                  </a:lnTo>
                  <a:lnTo>
                    <a:pt x="2273808" y="422478"/>
                  </a:lnTo>
                  <a:lnTo>
                    <a:pt x="2098878" y="597408"/>
                  </a:lnTo>
                  <a:lnTo>
                    <a:pt x="174929" y="597408"/>
                  </a:lnTo>
                  <a:lnTo>
                    <a:pt x="0" y="422478"/>
                  </a:lnTo>
                  <a:lnTo>
                    <a:pt x="0" y="17492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60879" y="1592834"/>
            <a:ext cx="16719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population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43350" y="1771649"/>
            <a:ext cx="1028700" cy="114300"/>
          </a:xfrm>
          <a:custGeom>
            <a:avLst/>
            <a:gdLst/>
            <a:ahLst/>
            <a:cxnLst/>
            <a:rect l="l" t="t" r="r" b="b"/>
            <a:pathLst>
              <a:path w="1028700" h="114300">
                <a:moveTo>
                  <a:pt x="1028687" y="57150"/>
                </a:moveTo>
                <a:lnTo>
                  <a:pt x="914387" y="0"/>
                </a:lnTo>
                <a:lnTo>
                  <a:pt x="914387" y="38100"/>
                </a:lnTo>
                <a:lnTo>
                  <a:pt x="0" y="38100"/>
                </a:lnTo>
                <a:lnTo>
                  <a:pt x="0" y="50800"/>
                </a:lnTo>
                <a:lnTo>
                  <a:pt x="914387" y="50800"/>
                </a:lnTo>
                <a:lnTo>
                  <a:pt x="914387" y="63500"/>
                </a:lnTo>
                <a:lnTo>
                  <a:pt x="0" y="63500"/>
                </a:lnTo>
                <a:lnTo>
                  <a:pt x="0" y="76200"/>
                </a:lnTo>
                <a:lnTo>
                  <a:pt x="914387" y="76200"/>
                </a:lnTo>
                <a:lnTo>
                  <a:pt x="914387" y="114300"/>
                </a:lnTo>
                <a:lnTo>
                  <a:pt x="102868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5671" y="119846"/>
            <a:ext cx="10586721" cy="957794"/>
          </a:xfrm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Chromosome</a:t>
            </a:r>
            <a:r>
              <a:rPr spc="-165" dirty="0"/>
              <a:t> </a:t>
            </a:r>
            <a:r>
              <a:rPr spc="-10" dirty="0"/>
              <a:t>Modification</a:t>
            </a:r>
            <a:r>
              <a:rPr lang="en-US" spc="-10" dirty="0"/>
              <a:t>: Reproduction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2967608" y="1859403"/>
            <a:ext cx="4272280" cy="1341755"/>
            <a:chOff x="2967608" y="1859403"/>
            <a:chExt cx="4272280" cy="1341755"/>
          </a:xfrm>
        </p:grpSpPr>
        <p:sp>
          <p:nvSpPr>
            <p:cNvPr id="4" name="object 4"/>
            <p:cNvSpPr/>
            <p:nvPr/>
          </p:nvSpPr>
          <p:spPr>
            <a:xfrm>
              <a:off x="4959476" y="1865753"/>
              <a:ext cx="2273935" cy="596900"/>
            </a:xfrm>
            <a:custGeom>
              <a:avLst/>
              <a:gdLst/>
              <a:ahLst/>
              <a:cxnLst/>
              <a:rect l="l" t="t" r="r" b="b"/>
              <a:pathLst>
                <a:path w="2273934" h="596900">
                  <a:moveTo>
                    <a:pt x="2099094" y="0"/>
                  </a:moveTo>
                  <a:lnTo>
                    <a:pt x="174713" y="0"/>
                  </a:lnTo>
                  <a:lnTo>
                    <a:pt x="0" y="174713"/>
                  </a:lnTo>
                  <a:lnTo>
                    <a:pt x="0" y="421932"/>
                  </a:lnTo>
                  <a:lnTo>
                    <a:pt x="174713" y="596646"/>
                  </a:lnTo>
                  <a:lnTo>
                    <a:pt x="2099094" y="596646"/>
                  </a:lnTo>
                  <a:lnTo>
                    <a:pt x="2273808" y="421932"/>
                  </a:lnTo>
                  <a:lnTo>
                    <a:pt x="2273808" y="174713"/>
                  </a:lnTo>
                  <a:lnTo>
                    <a:pt x="20990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59476" y="1865753"/>
              <a:ext cx="2273935" cy="596900"/>
            </a:xfrm>
            <a:custGeom>
              <a:avLst/>
              <a:gdLst/>
              <a:ahLst/>
              <a:cxnLst/>
              <a:rect l="l" t="t" r="r" b="b"/>
              <a:pathLst>
                <a:path w="2273934" h="596900">
                  <a:moveTo>
                    <a:pt x="0" y="174713"/>
                  </a:moveTo>
                  <a:lnTo>
                    <a:pt x="174713" y="0"/>
                  </a:lnTo>
                  <a:lnTo>
                    <a:pt x="2099094" y="0"/>
                  </a:lnTo>
                  <a:lnTo>
                    <a:pt x="2273808" y="174713"/>
                  </a:lnTo>
                  <a:lnTo>
                    <a:pt x="2273808" y="421932"/>
                  </a:lnTo>
                  <a:lnTo>
                    <a:pt x="2099094" y="596646"/>
                  </a:lnTo>
                  <a:lnTo>
                    <a:pt x="174713" y="596646"/>
                  </a:lnTo>
                  <a:lnTo>
                    <a:pt x="0" y="421932"/>
                  </a:lnTo>
                  <a:lnTo>
                    <a:pt x="0" y="17471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67608" y="2159126"/>
              <a:ext cx="1920875" cy="0"/>
            </a:xfrm>
            <a:custGeom>
              <a:avLst/>
              <a:gdLst/>
              <a:ahLst/>
              <a:cxnLst/>
              <a:rect l="l" t="t" r="r" b="b"/>
              <a:pathLst>
                <a:path w="1920875">
                  <a:moveTo>
                    <a:pt x="1920748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75655" y="212102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79032" y="2491358"/>
              <a:ext cx="17780" cy="646430"/>
            </a:xfrm>
            <a:custGeom>
              <a:avLst/>
              <a:gdLst/>
              <a:ahLst/>
              <a:cxnLst/>
              <a:rect l="l" t="t" r="r" b="b"/>
              <a:pathLst>
                <a:path w="17779" h="646430">
                  <a:moveTo>
                    <a:pt x="17348" y="0"/>
                  </a:moveTo>
                  <a:lnTo>
                    <a:pt x="0" y="64594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41287" y="3123587"/>
              <a:ext cx="76200" cy="77470"/>
            </a:xfrm>
            <a:custGeom>
              <a:avLst/>
              <a:gdLst/>
              <a:ahLst/>
              <a:cxnLst/>
              <a:rect l="l" t="t" r="r" b="b"/>
              <a:pathLst>
                <a:path w="76200" h="77469">
                  <a:moveTo>
                    <a:pt x="0" y="0"/>
                  </a:moveTo>
                  <a:lnTo>
                    <a:pt x="36042" y="77190"/>
                  </a:lnTo>
                  <a:lnTo>
                    <a:pt x="76174" y="2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16939" y="1657794"/>
            <a:ext cx="7566025" cy="3914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4110">
              <a:lnSpc>
                <a:spcPts val="2505"/>
              </a:lnSpc>
              <a:spcBef>
                <a:spcPts val="100"/>
              </a:spcBef>
            </a:pPr>
            <a:r>
              <a:rPr sz="2400" i="1" spc="-10" dirty="0">
                <a:latin typeface="Times New Roman"/>
                <a:cs typeface="Times New Roman"/>
              </a:rPr>
              <a:t>children</a:t>
            </a:r>
            <a:endParaRPr sz="2400">
              <a:latin typeface="Times New Roman"/>
              <a:cs typeface="Times New Roman"/>
            </a:endParaRPr>
          </a:p>
          <a:p>
            <a:pPr marL="4228465">
              <a:lnSpc>
                <a:spcPts val="2985"/>
              </a:lnSpc>
            </a:pPr>
            <a:r>
              <a:rPr sz="2800" spc="-10" dirty="0">
                <a:latin typeface="Arial"/>
                <a:cs typeface="Arial"/>
              </a:rPr>
              <a:t>modification</a:t>
            </a:r>
            <a:endParaRPr sz="2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495"/>
              </a:spcBef>
            </a:pPr>
            <a:r>
              <a:rPr sz="2400" i="1" dirty="0">
                <a:latin typeface="Times New Roman"/>
                <a:cs typeface="Times New Roman"/>
              </a:rPr>
              <a:t>modified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children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Modifications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stochastically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triggered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Operator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Mutation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Crossover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(recombination)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Crossover:</a:t>
            </a:r>
            <a:r>
              <a:rPr spc="-190" dirty="0"/>
              <a:t> </a:t>
            </a:r>
            <a:r>
              <a:rPr spc="-30" dirty="0"/>
              <a:t>Single-</a:t>
            </a:r>
            <a:r>
              <a:rPr spc="-10" dirty="0"/>
              <a:t>point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8775"/>
            <a:ext cx="9517380" cy="216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57625">
              <a:lnSpc>
                <a:spcPct val="1198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Crossover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critical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feature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genetic algorithms:</a:t>
            </a:r>
            <a:endParaRPr sz="280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greatly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accelerates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evolution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population</a:t>
            </a:r>
            <a:endParaRPr sz="2400">
              <a:latin typeface="Calibri"/>
              <a:cs typeface="Calibri"/>
            </a:endParaRPr>
          </a:p>
          <a:p>
            <a:pPr marL="696595" marR="5080" indent="-227329">
              <a:lnSpc>
                <a:spcPts val="2590"/>
              </a:lnSpc>
              <a:spcBef>
                <a:spcPts val="545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(subsolutions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 	chromosomes)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10584"/>
            <a:ext cx="21329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8839"/>
            <a:ext cx="2759075" cy="104838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514984" algn="l"/>
              </a:tabLst>
            </a:pPr>
            <a:r>
              <a:rPr sz="2000" spc="-25" dirty="0">
                <a:latin typeface="Calibri"/>
                <a:cs typeface="Calibri"/>
              </a:rPr>
              <a:t>P1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800" spc="-2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  <a:tabLst>
                <a:tab pos="514984" algn="l"/>
              </a:tabLst>
            </a:pPr>
            <a:r>
              <a:rPr sz="2000" spc="-25" dirty="0">
                <a:latin typeface="Calibri"/>
                <a:cs typeface="Calibri"/>
              </a:rPr>
              <a:t>P2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800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0</a:t>
            </a: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0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471C4"/>
                </a:solidFill>
                <a:latin typeface="Calibri"/>
                <a:cs typeface="Calibri"/>
              </a:rPr>
              <a:t>0</a:t>
            </a:r>
            <a:r>
              <a:rPr sz="2800" spc="-2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22658" y="1708835"/>
            <a:ext cx="2254885" cy="104838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800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0</a:t>
            </a:r>
            <a:r>
              <a:rPr sz="28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800" spc="-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0)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0)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5235" y="1895220"/>
            <a:ext cx="15836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C1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offspring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5235" y="2406523"/>
            <a:ext cx="16332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C2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offspring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4085" y="3622563"/>
            <a:ext cx="4572177" cy="259115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737990" y="2041776"/>
            <a:ext cx="810895" cy="76200"/>
            <a:chOff x="3737990" y="2041776"/>
            <a:chExt cx="810895" cy="76200"/>
          </a:xfrm>
        </p:grpSpPr>
        <p:sp>
          <p:nvSpPr>
            <p:cNvPr id="9" name="object 9"/>
            <p:cNvSpPr/>
            <p:nvPr/>
          </p:nvSpPr>
          <p:spPr>
            <a:xfrm>
              <a:off x="3737990" y="2079879"/>
              <a:ext cx="747395" cy="0"/>
            </a:xfrm>
            <a:custGeom>
              <a:avLst/>
              <a:gdLst/>
              <a:ahLst/>
              <a:cxnLst/>
              <a:rect l="l" t="t" r="r" b="b"/>
              <a:pathLst>
                <a:path w="747395">
                  <a:moveTo>
                    <a:pt x="0" y="0"/>
                  </a:moveTo>
                  <a:lnTo>
                    <a:pt x="74726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72560" y="204177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699128" y="2521074"/>
            <a:ext cx="810895" cy="76200"/>
            <a:chOff x="3699128" y="2521074"/>
            <a:chExt cx="810895" cy="76200"/>
          </a:xfrm>
        </p:grpSpPr>
        <p:sp>
          <p:nvSpPr>
            <p:cNvPr id="12" name="object 12"/>
            <p:cNvSpPr/>
            <p:nvPr/>
          </p:nvSpPr>
          <p:spPr>
            <a:xfrm>
              <a:off x="3699128" y="2559176"/>
              <a:ext cx="747395" cy="0"/>
            </a:xfrm>
            <a:custGeom>
              <a:avLst/>
              <a:gdLst/>
              <a:ahLst/>
              <a:cxnLst/>
              <a:rect l="l" t="t" r="r" b="b"/>
              <a:pathLst>
                <a:path w="747395">
                  <a:moveTo>
                    <a:pt x="0" y="0"/>
                  </a:moveTo>
                  <a:lnTo>
                    <a:pt x="747268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33698" y="252107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560701" y="1826132"/>
            <a:ext cx="0" cy="1029335"/>
          </a:xfrm>
          <a:custGeom>
            <a:avLst/>
            <a:gdLst/>
            <a:ahLst/>
            <a:cxnLst/>
            <a:rect l="l" t="t" r="r" b="b"/>
            <a:pathLst>
              <a:path h="1029335">
                <a:moveTo>
                  <a:pt x="0" y="0"/>
                </a:moveTo>
                <a:lnTo>
                  <a:pt x="0" y="102933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673095" y="1323724"/>
            <a:ext cx="1310005" cy="448945"/>
            <a:chOff x="2673095" y="1323724"/>
            <a:chExt cx="1310005" cy="448945"/>
          </a:xfrm>
        </p:grpSpPr>
        <p:sp>
          <p:nvSpPr>
            <p:cNvPr id="16" name="object 16"/>
            <p:cNvSpPr/>
            <p:nvPr/>
          </p:nvSpPr>
          <p:spPr>
            <a:xfrm>
              <a:off x="2682620" y="1355966"/>
              <a:ext cx="1240155" cy="407034"/>
            </a:xfrm>
            <a:custGeom>
              <a:avLst/>
              <a:gdLst/>
              <a:ahLst/>
              <a:cxnLst/>
              <a:rect l="l" t="t" r="r" b="b"/>
              <a:pathLst>
                <a:path w="1240154" h="407035">
                  <a:moveTo>
                    <a:pt x="0" y="406920"/>
                  </a:moveTo>
                  <a:lnTo>
                    <a:pt x="1240142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98818" y="1323724"/>
              <a:ext cx="84455" cy="73025"/>
            </a:xfrm>
            <a:custGeom>
              <a:avLst/>
              <a:gdLst/>
              <a:ahLst/>
              <a:cxnLst/>
              <a:rect l="l" t="t" r="r" b="b"/>
              <a:pathLst>
                <a:path w="84454" h="73025">
                  <a:moveTo>
                    <a:pt x="0" y="0"/>
                  </a:moveTo>
                  <a:lnTo>
                    <a:pt x="23761" y="72402"/>
                  </a:lnTo>
                  <a:lnTo>
                    <a:pt x="84277" y="12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125255" y="1154394"/>
            <a:ext cx="1477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Crossover</a:t>
            </a:r>
            <a:r>
              <a:rPr sz="1800" spc="-20" dirty="0">
                <a:latin typeface="Calibri"/>
                <a:cs typeface="Calibri"/>
              </a:rPr>
              <a:t> point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Crossover:</a:t>
            </a:r>
            <a:r>
              <a:rPr spc="-220" dirty="0"/>
              <a:t> </a:t>
            </a:r>
            <a:r>
              <a:rPr spc="-40" dirty="0"/>
              <a:t>two-</a:t>
            </a:r>
            <a:r>
              <a:rPr spc="-10" dirty="0"/>
              <a:t>point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5320" y="1964652"/>
            <a:ext cx="5926707" cy="33093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22213" y="674877"/>
            <a:ext cx="41408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Uniform</a:t>
            </a:r>
            <a:r>
              <a:rPr spc="-195" dirty="0"/>
              <a:t> </a:t>
            </a:r>
            <a:r>
              <a:rPr spc="-10" dirty="0"/>
              <a:t>crossover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2233" y="1501668"/>
            <a:ext cx="6358255" cy="147256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09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Assign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'heads'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parent,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'tails'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Flip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gene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child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Make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inverse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copy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gene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second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child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Inheritance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independent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position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3455" y="3747129"/>
            <a:ext cx="6043701" cy="26539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10584"/>
            <a:ext cx="65036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Mutation:</a:t>
            </a:r>
            <a:r>
              <a:rPr spc="-180" dirty="0"/>
              <a:t> </a:t>
            </a:r>
            <a:r>
              <a:rPr dirty="0"/>
              <a:t>Local</a:t>
            </a:r>
            <a:r>
              <a:rPr spc="-185" dirty="0"/>
              <a:t> </a:t>
            </a:r>
            <a:r>
              <a:rPr spc="-10" dirty="0"/>
              <a:t>Modification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30512" y="2975229"/>
          <a:ext cx="6402070" cy="1423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Before: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marL="48768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(1.38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59385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800" spc="-20" dirty="0">
                          <a:latin typeface="Arial"/>
                          <a:cs typeface="Arial"/>
                        </a:rPr>
                        <a:t>69.4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326.44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5938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800" spc="-20" dirty="0">
                          <a:latin typeface="Arial"/>
                          <a:cs typeface="Arial"/>
                        </a:rPr>
                        <a:t>0.1)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593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8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After: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marL="48768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(1.38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2800" spc="-20" dirty="0">
                          <a:latin typeface="Arial"/>
                          <a:cs typeface="Arial"/>
                        </a:rPr>
                        <a:t>67.5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326.44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20" dirty="0">
                          <a:latin typeface="Arial"/>
                          <a:cs typeface="Arial"/>
                        </a:rPr>
                        <a:t>0.1)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373891"/>
              </p:ext>
            </p:extLst>
          </p:nvPr>
        </p:nvGraphicFramePr>
        <p:xfrm>
          <a:off x="2830512" y="1313307"/>
          <a:ext cx="6405878" cy="131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56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611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813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Before: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29539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(1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953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0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953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9539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0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953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1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9539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0)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129539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2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After: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(1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lang="en-US" sz="2800" spc="-50" dirty="0">
                          <a:latin typeface="Arial"/>
                          <a:cs typeface="Arial"/>
                        </a:rPr>
                        <a:t>0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0)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876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057400" y="4876800"/>
            <a:ext cx="8920797" cy="95474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739140" indent="-228600">
              <a:lnSpc>
                <a:spcPts val="302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Causes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movement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space </a:t>
            </a:r>
            <a:r>
              <a:rPr sz="2800" dirty="0">
                <a:latin typeface="Calibri"/>
                <a:cs typeface="Calibri"/>
              </a:rPr>
              <a:t>(local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global)</a:t>
            </a:r>
            <a:endParaRPr sz="2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Restores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lost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population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10584"/>
            <a:ext cx="21101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Mutation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8586" y="1833988"/>
            <a:ext cx="8676881" cy="4654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5340" y="1778000"/>
            <a:ext cx="6727825" cy="19259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Main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chance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Chances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proportional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fitness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Implementation: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roulette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wheel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  <a:p>
            <a:pPr marL="2068830" marR="5080" lvl="2" indent="-227329">
              <a:lnSpc>
                <a:spcPts val="2590"/>
              </a:lnSpc>
              <a:spcBef>
                <a:spcPts val="540"/>
              </a:spcBef>
              <a:buFont typeface="Arial"/>
              <a:buChar char="•"/>
              <a:tabLst>
                <a:tab pos="2070100" algn="l"/>
              </a:tabLst>
            </a:pPr>
            <a:r>
              <a:rPr sz="2400" dirty="0">
                <a:latin typeface="Calibri"/>
                <a:cs typeface="Calibri"/>
              </a:rPr>
              <a:t>Assign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roulette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wheel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84140" y="3705859"/>
            <a:ext cx="44869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Char char="•"/>
              <a:tabLst>
                <a:tab pos="241300" algn="l"/>
                <a:tab pos="30924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Spin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n </a:t>
            </a:r>
            <a:r>
              <a:rPr sz="2400" spc="-10" dirty="0">
                <a:latin typeface="Calibri"/>
                <a:cs typeface="Calibri"/>
              </a:rPr>
              <a:t>individuals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8376" rIns="0" bIns="0" rtlCol="0">
            <a:spAutoFit/>
          </a:bodyPr>
          <a:lstStyle/>
          <a:p>
            <a:pPr marL="161226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Selection:</a:t>
            </a:r>
            <a:r>
              <a:rPr sz="4000" spc="-90" dirty="0"/>
              <a:t> </a:t>
            </a:r>
            <a:r>
              <a:rPr sz="4000" spc="-20" dirty="0"/>
              <a:t>Roulette</a:t>
            </a:r>
            <a:r>
              <a:rPr sz="4000" spc="-85" dirty="0"/>
              <a:t> </a:t>
            </a:r>
            <a:r>
              <a:rPr sz="4000" dirty="0"/>
              <a:t>Wheel</a:t>
            </a:r>
            <a:r>
              <a:rPr sz="4000" spc="-85" dirty="0"/>
              <a:t> </a:t>
            </a:r>
            <a:r>
              <a:rPr sz="4000" spc="-10" dirty="0"/>
              <a:t>Selection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7698185" y="4509872"/>
            <a:ext cx="1846580" cy="158305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305"/>
              </a:spcBef>
            </a:pPr>
            <a:r>
              <a:rPr sz="2400" dirty="0">
                <a:latin typeface="Arial"/>
                <a:cs typeface="Arial"/>
              </a:rPr>
              <a:t>fitness(A)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1210"/>
              </a:spcBef>
            </a:pPr>
            <a:r>
              <a:rPr sz="2400" dirty="0">
                <a:latin typeface="Arial"/>
                <a:cs typeface="Arial"/>
              </a:rPr>
              <a:t>fitness(B)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latin typeface="Arial"/>
                <a:cs typeface="Arial"/>
              </a:rPr>
              <a:t>fitness(C)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19801" y="5144934"/>
            <a:ext cx="784225" cy="76200"/>
            <a:chOff x="6019801" y="5144934"/>
            <a:chExt cx="784225" cy="76200"/>
          </a:xfrm>
        </p:grpSpPr>
        <p:sp>
          <p:nvSpPr>
            <p:cNvPr id="7" name="object 7"/>
            <p:cNvSpPr/>
            <p:nvPr/>
          </p:nvSpPr>
          <p:spPr>
            <a:xfrm>
              <a:off x="6083301" y="5181600"/>
              <a:ext cx="708025" cy="1905"/>
            </a:xfrm>
            <a:custGeom>
              <a:avLst/>
              <a:gdLst/>
              <a:ahLst/>
              <a:cxnLst/>
              <a:rect l="l" t="t" r="r" b="b"/>
              <a:pathLst>
                <a:path w="708025" h="1904">
                  <a:moveTo>
                    <a:pt x="708025" y="0"/>
                  </a:moveTo>
                  <a:lnTo>
                    <a:pt x="0" y="146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19801" y="5144934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76123" y="0"/>
                  </a:moveTo>
                  <a:lnTo>
                    <a:pt x="0" y="38252"/>
                  </a:lnTo>
                  <a:lnTo>
                    <a:pt x="76276" y="76200"/>
                  </a:lnTo>
                  <a:lnTo>
                    <a:pt x="761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08630" y="3956430"/>
            <a:ext cx="2932430" cy="2679065"/>
            <a:chOff x="2508630" y="3956430"/>
            <a:chExt cx="2932430" cy="2679065"/>
          </a:xfrm>
        </p:grpSpPr>
        <p:sp>
          <p:nvSpPr>
            <p:cNvPr id="10" name="object 10"/>
            <p:cNvSpPr/>
            <p:nvPr/>
          </p:nvSpPr>
          <p:spPr>
            <a:xfrm>
              <a:off x="2514980" y="3962780"/>
              <a:ext cx="2919730" cy="2666365"/>
            </a:xfrm>
            <a:custGeom>
              <a:avLst/>
              <a:gdLst/>
              <a:ahLst/>
              <a:cxnLst/>
              <a:rect l="l" t="t" r="r" b="b"/>
              <a:pathLst>
                <a:path w="2919729" h="2666365">
                  <a:moveTo>
                    <a:pt x="1459611" y="0"/>
                  </a:moveTo>
                  <a:lnTo>
                    <a:pt x="1409431" y="773"/>
                  </a:lnTo>
                  <a:lnTo>
                    <a:pt x="1359677" y="3075"/>
                  </a:lnTo>
                  <a:lnTo>
                    <a:pt x="1310374" y="6882"/>
                  </a:lnTo>
                  <a:lnTo>
                    <a:pt x="1261550" y="12169"/>
                  </a:lnTo>
                  <a:lnTo>
                    <a:pt x="1213233" y="18912"/>
                  </a:lnTo>
                  <a:lnTo>
                    <a:pt x="1165448" y="27084"/>
                  </a:lnTo>
                  <a:lnTo>
                    <a:pt x="1118225" y="36662"/>
                  </a:lnTo>
                  <a:lnTo>
                    <a:pt x="1071588" y="47620"/>
                  </a:lnTo>
                  <a:lnTo>
                    <a:pt x="1025567" y="59934"/>
                  </a:lnTo>
                  <a:lnTo>
                    <a:pt x="980188" y="73579"/>
                  </a:lnTo>
                  <a:lnTo>
                    <a:pt x="935478" y="88531"/>
                  </a:lnTo>
                  <a:lnTo>
                    <a:pt x="891464" y="104763"/>
                  </a:lnTo>
                  <a:lnTo>
                    <a:pt x="848174" y="122252"/>
                  </a:lnTo>
                  <a:lnTo>
                    <a:pt x="805635" y="140973"/>
                  </a:lnTo>
                  <a:lnTo>
                    <a:pt x="763874" y="160901"/>
                  </a:lnTo>
                  <a:lnTo>
                    <a:pt x="722917" y="182010"/>
                  </a:lnTo>
                  <a:lnTo>
                    <a:pt x="682793" y="204277"/>
                  </a:lnTo>
                  <a:lnTo>
                    <a:pt x="643529" y="227676"/>
                  </a:lnTo>
                  <a:lnTo>
                    <a:pt x="605151" y="252183"/>
                  </a:lnTo>
                  <a:lnTo>
                    <a:pt x="567686" y="277773"/>
                  </a:lnTo>
                  <a:lnTo>
                    <a:pt x="531163" y="304420"/>
                  </a:lnTo>
                  <a:lnTo>
                    <a:pt x="495608" y="332101"/>
                  </a:lnTo>
                  <a:lnTo>
                    <a:pt x="461048" y="360790"/>
                  </a:lnTo>
                  <a:lnTo>
                    <a:pt x="427510" y="390463"/>
                  </a:lnTo>
                  <a:lnTo>
                    <a:pt x="395022" y="421094"/>
                  </a:lnTo>
                  <a:lnTo>
                    <a:pt x="363611" y="452659"/>
                  </a:lnTo>
                  <a:lnTo>
                    <a:pt x="333304" y="485133"/>
                  </a:lnTo>
                  <a:lnTo>
                    <a:pt x="304128" y="518491"/>
                  </a:lnTo>
                  <a:lnTo>
                    <a:pt x="276111" y="552709"/>
                  </a:lnTo>
                  <a:lnTo>
                    <a:pt x="249278" y="587761"/>
                  </a:lnTo>
                  <a:lnTo>
                    <a:pt x="223659" y="623623"/>
                  </a:lnTo>
                  <a:lnTo>
                    <a:pt x="199279" y="660270"/>
                  </a:lnTo>
                  <a:lnTo>
                    <a:pt x="176167" y="697677"/>
                  </a:lnTo>
                  <a:lnTo>
                    <a:pt x="154349" y="735819"/>
                  </a:lnTo>
                  <a:lnTo>
                    <a:pt x="133852" y="774672"/>
                  </a:lnTo>
                  <a:lnTo>
                    <a:pt x="114703" y="814210"/>
                  </a:lnTo>
                  <a:lnTo>
                    <a:pt x="96930" y="854409"/>
                  </a:lnTo>
                  <a:lnTo>
                    <a:pt x="80561" y="895245"/>
                  </a:lnTo>
                  <a:lnTo>
                    <a:pt x="65621" y="936691"/>
                  </a:lnTo>
                  <a:lnTo>
                    <a:pt x="52138" y="978724"/>
                  </a:lnTo>
                  <a:lnTo>
                    <a:pt x="40140" y="1021319"/>
                  </a:lnTo>
                  <a:lnTo>
                    <a:pt x="29654" y="1064450"/>
                  </a:lnTo>
                  <a:lnTo>
                    <a:pt x="20706" y="1108093"/>
                  </a:lnTo>
                  <a:lnTo>
                    <a:pt x="13324" y="1152223"/>
                  </a:lnTo>
                  <a:lnTo>
                    <a:pt x="7535" y="1196816"/>
                  </a:lnTo>
                  <a:lnTo>
                    <a:pt x="3367" y="1241845"/>
                  </a:lnTo>
                  <a:lnTo>
                    <a:pt x="846" y="1287288"/>
                  </a:lnTo>
                  <a:lnTo>
                    <a:pt x="0" y="1333119"/>
                  </a:lnTo>
                  <a:lnTo>
                    <a:pt x="846" y="1378949"/>
                  </a:lnTo>
                  <a:lnTo>
                    <a:pt x="3367" y="1424392"/>
                  </a:lnTo>
                  <a:lnTo>
                    <a:pt x="7535" y="1469421"/>
                  </a:lnTo>
                  <a:lnTo>
                    <a:pt x="13324" y="1514014"/>
                  </a:lnTo>
                  <a:lnTo>
                    <a:pt x="20706" y="1558144"/>
                  </a:lnTo>
                  <a:lnTo>
                    <a:pt x="29654" y="1601787"/>
                  </a:lnTo>
                  <a:lnTo>
                    <a:pt x="40140" y="1644918"/>
                  </a:lnTo>
                  <a:lnTo>
                    <a:pt x="52138" y="1687513"/>
                  </a:lnTo>
                  <a:lnTo>
                    <a:pt x="65621" y="1729546"/>
                  </a:lnTo>
                  <a:lnTo>
                    <a:pt x="80561" y="1770992"/>
                  </a:lnTo>
                  <a:lnTo>
                    <a:pt x="96930" y="1811828"/>
                  </a:lnTo>
                  <a:lnTo>
                    <a:pt x="114703" y="1852027"/>
                  </a:lnTo>
                  <a:lnTo>
                    <a:pt x="133852" y="1891565"/>
                  </a:lnTo>
                  <a:lnTo>
                    <a:pt x="154349" y="1930418"/>
                  </a:lnTo>
                  <a:lnTo>
                    <a:pt x="176167" y="1968560"/>
                  </a:lnTo>
                  <a:lnTo>
                    <a:pt x="199279" y="2005967"/>
                  </a:lnTo>
                  <a:lnTo>
                    <a:pt x="223659" y="2042614"/>
                  </a:lnTo>
                  <a:lnTo>
                    <a:pt x="249278" y="2078476"/>
                  </a:lnTo>
                  <a:lnTo>
                    <a:pt x="276111" y="2113528"/>
                  </a:lnTo>
                  <a:lnTo>
                    <a:pt x="304128" y="2147746"/>
                  </a:lnTo>
                  <a:lnTo>
                    <a:pt x="333304" y="2181104"/>
                  </a:lnTo>
                  <a:lnTo>
                    <a:pt x="363611" y="2213578"/>
                  </a:lnTo>
                  <a:lnTo>
                    <a:pt x="395022" y="2245143"/>
                  </a:lnTo>
                  <a:lnTo>
                    <a:pt x="427510" y="2275774"/>
                  </a:lnTo>
                  <a:lnTo>
                    <a:pt x="461048" y="2305447"/>
                  </a:lnTo>
                  <a:lnTo>
                    <a:pt x="495608" y="2334136"/>
                  </a:lnTo>
                  <a:lnTo>
                    <a:pt x="531163" y="2361817"/>
                  </a:lnTo>
                  <a:lnTo>
                    <a:pt x="567686" y="2388464"/>
                  </a:lnTo>
                  <a:lnTo>
                    <a:pt x="605151" y="2414054"/>
                  </a:lnTo>
                  <a:lnTo>
                    <a:pt x="643529" y="2438561"/>
                  </a:lnTo>
                  <a:lnTo>
                    <a:pt x="682793" y="2461960"/>
                  </a:lnTo>
                  <a:lnTo>
                    <a:pt x="722917" y="2484227"/>
                  </a:lnTo>
                  <a:lnTo>
                    <a:pt x="763874" y="2505336"/>
                  </a:lnTo>
                  <a:lnTo>
                    <a:pt x="805635" y="2525264"/>
                  </a:lnTo>
                  <a:lnTo>
                    <a:pt x="848174" y="2543985"/>
                  </a:lnTo>
                  <a:lnTo>
                    <a:pt x="891464" y="2561474"/>
                  </a:lnTo>
                  <a:lnTo>
                    <a:pt x="935478" y="2577706"/>
                  </a:lnTo>
                  <a:lnTo>
                    <a:pt x="980188" y="2592658"/>
                  </a:lnTo>
                  <a:lnTo>
                    <a:pt x="1025567" y="2606303"/>
                  </a:lnTo>
                  <a:lnTo>
                    <a:pt x="1071588" y="2618617"/>
                  </a:lnTo>
                  <a:lnTo>
                    <a:pt x="1118225" y="2629575"/>
                  </a:lnTo>
                  <a:lnTo>
                    <a:pt x="1165448" y="2639153"/>
                  </a:lnTo>
                  <a:lnTo>
                    <a:pt x="1213233" y="2647325"/>
                  </a:lnTo>
                  <a:lnTo>
                    <a:pt x="1261550" y="2654068"/>
                  </a:lnTo>
                  <a:lnTo>
                    <a:pt x="1310374" y="2659355"/>
                  </a:lnTo>
                  <a:lnTo>
                    <a:pt x="1359677" y="2663162"/>
                  </a:lnTo>
                  <a:lnTo>
                    <a:pt x="1409431" y="2665464"/>
                  </a:lnTo>
                  <a:lnTo>
                    <a:pt x="1459611" y="2666238"/>
                  </a:lnTo>
                  <a:lnTo>
                    <a:pt x="1509790" y="2665464"/>
                  </a:lnTo>
                  <a:lnTo>
                    <a:pt x="1559544" y="2663162"/>
                  </a:lnTo>
                  <a:lnTo>
                    <a:pt x="1608847" y="2659355"/>
                  </a:lnTo>
                  <a:lnTo>
                    <a:pt x="1657671" y="2654068"/>
                  </a:lnTo>
                  <a:lnTo>
                    <a:pt x="1705988" y="2647325"/>
                  </a:lnTo>
                  <a:lnTo>
                    <a:pt x="1753773" y="2639153"/>
                  </a:lnTo>
                  <a:lnTo>
                    <a:pt x="1800996" y="2629575"/>
                  </a:lnTo>
                  <a:lnTo>
                    <a:pt x="1847633" y="2618617"/>
                  </a:lnTo>
                  <a:lnTo>
                    <a:pt x="1893654" y="2606303"/>
                  </a:lnTo>
                  <a:lnTo>
                    <a:pt x="1939033" y="2592658"/>
                  </a:lnTo>
                  <a:lnTo>
                    <a:pt x="1983743" y="2577706"/>
                  </a:lnTo>
                  <a:lnTo>
                    <a:pt x="2027757" y="2561474"/>
                  </a:lnTo>
                  <a:lnTo>
                    <a:pt x="2071047" y="2543985"/>
                  </a:lnTo>
                  <a:lnTo>
                    <a:pt x="2113586" y="2525264"/>
                  </a:lnTo>
                  <a:lnTo>
                    <a:pt x="2155347" y="2505336"/>
                  </a:lnTo>
                  <a:lnTo>
                    <a:pt x="2196304" y="2484227"/>
                  </a:lnTo>
                  <a:lnTo>
                    <a:pt x="2236428" y="2461960"/>
                  </a:lnTo>
                  <a:lnTo>
                    <a:pt x="2275692" y="2438561"/>
                  </a:lnTo>
                  <a:lnTo>
                    <a:pt x="2314070" y="2414054"/>
                  </a:lnTo>
                  <a:lnTo>
                    <a:pt x="2351535" y="2388464"/>
                  </a:lnTo>
                  <a:lnTo>
                    <a:pt x="2388058" y="2361817"/>
                  </a:lnTo>
                  <a:lnTo>
                    <a:pt x="2423613" y="2334136"/>
                  </a:lnTo>
                  <a:lnTo>
                    <a:pt x="2458173" y="2305447"/>
                  </a:lnTo>
                  <a:lnTo>
                    <a:pt x="2491711" y="2275774"/>
                  </a:lnTo>
                  <a:lnTo>
                    <a:pt x="2524199" y="2245143"/>
                  </a:lnTo>
                  <a:lnTo>
                    <a:pt x="2555610" y="2213578"/>
                  </a:lnTo>
                  <a:lnTo>
                    <a:pt x="2585917" y="2181104"/>
                  </a:lnTo>
                  <a:lnTo>
                    <a:pt x="2615093" y="2147746"/>
                  </a:lnTo>
                  <a:lnTo>
                    <a:pt x="2643110" y="2113528"/>
                  </a:lnTo>
                  <a:lnTo>
                    <a:pt x="2669943" y="2078476"/>
                  </a:lnTo>
                  <a:lnTo>
                    <a:pt x="2695562" y="2042614"/>
                  </a:lnTo>
                  <a:lnTo>
                    <a:pt x="2719942" y="2005967"/>
                  </a:lnTo>
                  <a:lnTo>
                    <a:pt x="2743054" y="1968560"/>
                  </a:lnTo>
                  <a:lnTo>
                    <a:pt x="2764872" y="1930418"/>
                  </a:lnTo>
                  <a:lnTo>
                    <a:pt x="2785369" y="1891565"/>
                  </a:lnTo>
                  <a:lnTo>
                    <a:pt x="2804518" y="1852027"/>
                  </a:lnTo>
                  <a:lnTo>
                    <a:pt x="2822291" y="1811828"/>
                  </a:lnTo>
                  <a:lnTo>
                    <a:pt x="2838660" y="1770992"/>
                  </a:lnTo>
                  <a:lnTo>
                    <a:pt x="2853600" y="1729546"/>
                  </a:lnTo>
                  <a:lnTo>
                    <a:pt x="2867083" y="1687513"/>
                  </a:lnTo>
                  <a:lnTo>
                    <a:pt x="2879081" y="1644918"/>
                  </a:lnTo>
                  <a:lnTo>
                    <a:pt x="2889567" y="1601787"/>
                  </a:lnTo>
                  <a:lnTo>
                    <a:pt x="2898515" y="1558144"/>
                  </a:lnTo>
                  <a:lnTo>
                    <a:pt x="2905897" y="1514014"/>
                  </a:lnTo>
                  <a:lnTo>
                    <a:pt x="2911686" y="1469421"/>
                  </a:lnTo>
                  <a:lnTo>
                    <a:pt x="2915854" y="1424392"/>
                  </a:lnTo>
                  <a:lnTo>
                    <a:pt x="2918375" y="1378949"/>
                  </a:lnTo>
                  <a:lnTo>
                    <a:pt x="2919222" y="1333119"/>
                  </a:lnTo>
                  <a:lnTo>
                    <a:pt x="2918375" y="1287288"/>
                  </a:lnTo>
                  <a:lnTo>
                    <a:pt x="2915854" y="1241845"/>
                  </a:lnTo>
                  <a:lnTo>
                    <a:pt x="2911686" y="1196816"/>
                  </a:lnTo>
                  <a:lnTo>
                    <a:pt x="2905897" y="1152223"/>
                  </a:lnTo>
                  <a:lnTo>
                    <a:pt x="2898515" y="1108093"/>
                  </a:lnTo>
                  <a:lnTo>
                    <a:pt x="2889567" y="1064450"/>
                  </a:lnTo>
                  <a:lnTo>
                    <a:pt x="2879081" y="1021319"/>
                  </a:lnTo>
                  <a:lnTo>
                    <a:pt x="2867083" y="978724"/>
                  </a:lnTo>
                  <a:lnTo>
                    <a:pt x="2853600" y="936691"/>
                  </a:lnTo>
                  <a:lnTo>
                    <a:pt x="2838660" y="895245"/>
                  </a:lnTo>
                  <a:lnTo>
                    <a:pt x="2822291" y="854409"/>
                  </a:lnTo>
                  <a:lnTo>
                    <a:pt x="2804518" y="814210"/>
                  </a:lnTo>
                  <a:lnTo>
                    <a:pt x="2785369" y="774672"/>
                  </a:lnTo>
                  <a:lnTo>
                    <a:pt x="2764872" y="735819"/>
                  </a:lnTo>
                  <a:lnTo>
                    <a:pt x="2743054" y="697677"/>
                  </a:lnTo>
                  <a:lnTo>
                    <a:pt x="2719942" y="660270"/>
                  </a:lnTo>
                  <a:lnTo>
                    <a:pt x="2695562" y="623623"/>
                  </a:lnTo>
                  <a:lnTo>
                    <a:pt x="2669943" y="587761"/>
                  </a:lnTo>
                  <a:lnTo>
                    <a:pt x="2643110" y="552709"/>
                  </a:lnTo>
                  <a:lnTo>
                    <a:pt x="2615093" y="518491"/>
                  </a:lnTo>
                  <a:lnTo>
                    <a:pt x="2585917" y="485133"/>
                  </a:lnTo>
                  <a:lnTo>
                    <a:pt x="2555610" y="452659"/>
                  </a:lnTo>
                  <a:lnTo>
                    <a:pt x="2524199" y="421094"/>
                  </a:lnTo>
                  <a:lnTo>
                    <a:pt x="2491711" y="390463"/>
                  </a:lnTo>
                  <a:lnTo>
                    <a:pt x="2458173" y="360790"/>
                  </a:lnTo>
                  <a:lnTo>
                    <a:pt x="2423613" y="332101"/>
                  </a:lnTo>
                  <a:lnTo>
                    <a:pt x="2388058" y="304420"/>
                  </a:lnTo>
                  <a:lnTo>
                    <a:pt x="2351535" y="277773"/>
                  </a:lnTo>
                  <a:lnTo>
                    <a:pt x="2314070" y="252183"/>
                  </a:lnTo>
                  <a:lnTo>
                    <a:pt x="2275692" y="227676"/>
                  </a:lnTo>
                  <a:lnTo>
                    <a:pt x="2236428" y="204277"/>
                  </a:lnTo>
                  <a:lnTo>
                    <a:pt x="2196304" y="182010"/>
                  </a:lnTo>
                  <a:lnTo>
                    <a:pt x="2155347" y="160901"/>
                  </a:lnTo>
                  <a:lnTo>
                    <a:pt x="2113586" y="140973"/>
                  </a:lnTo>
                  <a:lnTo>
                    <a:pt x="2071047" y="122252"/>
                  </a:lnTo>
                  <a:lnTo>
                    <a:pt x="2027757" y="104763"/>
                  </a:lnTo>
                  <a:lnTo>
                    <a:pt x="1983743" y="88531"/>
                  </a:lnTo>
                  <a:lnTo>
                    <a:pt x="1939033" y="73579"/>
                  </a:lnTo>
                  <a:lnTo>
                    <a:pt x="1893654" y="59934"/>
                  </a:lnTo>
                  <a:lnTo>
                    <a:pt x="1847633" y="47620"/>
                  </a:lnTo>
                  <a:lnTo>
                    <a:pt x="1800996" y="36662"/>
                  </a:lnTo>
                  <a:lnTo>
                    <a:pt x="1753773" y="27084"/>
                  </a:lnTo>
                  <a:lnTo>
                    <a:pt x="1705988" y="18912"/>
                  </a:lnTo>
                  <a:lnTo>
                    <a:pt x="1657671" y="12169"/>
                  </a:lnTo>
                  <a:lnTo>
                    <a:pt x="1608847" y="6882"/>
                  </a:lnTo>
                  <a:lnTo>
                    <a:pt x="1559544" y="3075"/>
                  </a:lnTo>
                  <a:lnTo>
                    <a:pt x="1509790" y="773"/>
                  </a:lnTo>
                  <a:lnTo>
                    <a:pt x="145961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14980" y="3962780"/>
              <a:ext cx="2919730" cy="2666365"/>
            </a:xfrm>
            <a:custGeom>
              <a:avLst/>
              <a:gdLst/>
              <a:ahLst/>
              <a:cxnLst/>
              <a:rect l="l" t="t" r="r" b="b"/>
              <a:pathLst>
                <a:path w="2919729" h="2666365">
                  <a:moveTo>
                    <a:pt x="0" y="1333119"/>
                  </a:moveTo>
                  <a:lnTo>
                    <a:pt x="846" y="1287288"/>
                  </a:lnTo>
                  <a:lnTo>
                    <a:pt x="3367" y="1241845"/>
                  </a:lnTo>
                  <a:lnTo>
                    <a:pt x="7535" y="1196816"/>
                  </a:lnTo>
                  <a:lnTo>
                    <a:pt x="13324" y="1152223"/>
                  </a:lnTo>
                  <a:lnTo>
                    <a:pt x="20706" y="1108093"/>
                  </a:lnTo>
                  <a:lnTo>
                    <a:pt x="29654" y="1064450"/>
                  </a:lnTo>
                  <a:lnTo>
                    <a:pt x="40140" y="1021319"/>
                  </a:lnTo>
                  <a:lnTo>
                    <a:pt x="52138" y="978724"/>
                  </a:lnTo>
                  <a:lnTo>
                    <a:pt x="65621" y="936691"/>
                  </a:lnTo>
                  <a:lnTo>
                    <a:pt x="80561" y="895245"/>
                  </a:lnTo>
                  <a:lnTo>
                    <a:pt x="96930" y="854409"/>
                  </a:lnTo>
                  <a:lnTo>
                    <a:pt x="114703" y="814210"/>
                  </a:lnTo>
                  <a:lnTo>
                    <a:pt x="133852" y="774672"/>
                  </a:lnTo>
                  <a:lnTo>
                    <a:pt x="154349" y="735819"/>
                  </a:lnTo>
                  <a:lnTo>
                    <a:pt x="176167" y="697677"/>
                  </a:lnTo>
                  <a:lnTo>
                    <a:pt x="199279" y="660270"/>
                  </a:lnTo>
                  <a:lnTo>
                    <a:pt x="223659" y="623623"/>
                  </a:lnTo>
                  <a:lnTo>
                    <a:pt x="249278" y="587761"/>
                  </a:lnTo>
                  <a:lnTo>
                    <a:pt x="276111" y="552709"/>
                  </a:lnTo>
                  <a:lnTo>
                    <a:pt x="304128" y="518491"/>
                  </a:lnTo>
                  <a:lnTo>
                    <a:pt x="333304" y="485133"/>
                  </a:lnTo>
                  <a:lnTo>
                    <a:pt x="363611" y="452659"/>
                  </a:lnTo>
                  <a:lnTo>
                    <a:pt x="395022" y="421094"/>
                  </a:lnTo>
                  <a:lnTo>
                    <a:pt x="427510" y="390463"/>
                  </a:lnTo>
                  <a:lnTo>
                    <a:pt x="461048" y="360790"/>
                  </a:lnTo>
                  <a:lnTo>
                    <a:pt x="495608" y="332101"/>
                  </a:lnTo>
                  <a:lnTo>
                    <a:pt x="531163" y="304420"/>
                  </a:lnTo>
                  <a:lnTo>
                    <a:pt x="567686" y="277773"/>
                  </a:lnTo>
                  <a:lnTo>
                    <a:pt x="605151" y="252183"/>
                  </a:lnTo>
                  <a:lnTo>
                    <a:pt x="643529" y="227676"/>
                  </a:lnTo>
                  <a:lnTo>
                    <a:pt x="682793" y="204277"/>
                  </a:lnTo>
                  <a:lnTo>
                    <a:pt x="722917" y="182010"/>
                  </a:lnTo>
                  <a:lnTo>
                    <a:pt x="763874" y="160901"/>
                  </a:lnTo>
                  <a:lnTo>
                    <a:pt x="805635" y="140973"/>
                  </a:lnTo>
                  <a:lnTo>
                    <a:pt x="848174" y="122252"/>
                  </a:lnTo>
                  <a:lnTo>
                    <a:pt x="891464" y="104763"/>
                  </a:lnTo>
                  <a:lnTo>
                    <a:pt x="935478" y="88531"/>
                  </a:lnTo>
                  <a:lnTo>
                    <a:pt x="980188" y="73579"/>
                  </a:lnTo>
                  <a:lnTo>
                    <a:pt x="1025567" y="59934"/>
                  </a:lnTo>
                  <a:lnTo>
                    <a:pt x="1071588" y="47620"/>
                  </a:lnTo>
                  <a:lnTo>
                    <a:pt x="1118225" y="36662"/>
                  </a:lnTo>
                  <a:lnTo>
                    <a:pt x="1165448" y="27084"/>
                  </a:lnTo>
                  <a:lnTo>
                    <a:pt x="1213233" y="18912"/>
                  </a:lnTo>
                  <a:lnTo>
                    <a:pt x="1261550" y="12169"/>
                  </a:lnTo>
                  <a:lnTo>
                    <a:pt x="1310374" y="6882"/>
                  </a:lnTo>
                  <a:lnTo>
                    <a:pt x="1359677" y="3075"/>
                  </a:lnTo>
                  <a:lnTo>
                    <a:pt x="1409431" y="773"/>
                  </a:lnTo>
                  <a:lnTo>
                    <a:pt x="1459611" y="0"/>
                  </a:lnTo>
                  <a:lnTo>
                    <a:pt x="1509790" y="773"/>
                  </a:lnTo>
                  <a:lnTo>
                    <a:pt x="1559544" y="3075"/>
                  </a:lnTo>
                  <a:lnTo>
                    <a:pt x="1608847" y="6882"/>
                  </a:lnTo>
                  <a:lnTo>
                    <a:pt x="1657671" y="12169"/>
                  </a:lnTo>
                  <a:lnTo>
                    <a:pt x="1705988" y="18912"/>
                  </a:lnTo>
                  <a:lnTo>
                    <a:pt x="1753773" y="27084"/>
                  </a:lnTo>
                  <a:lnTo>
                    <a:pt x="1800996" y="36662"/>
                  </a:lnTo>
                  <a:lnTo>
                    <a:pt x="1847633" y="47620"/>
                  </a:lnTo>
                  <a:lnTo>
                    <a:pt x="1893654" y="59934"/>
                  </a:lnTo>
                  <a:lnTo>
                    <a:pt x="1939033" y="73579"/>
                  </a:lnTo>
                  <a:lnTo>
                    <a:pt x="1983743" y="88531"/>
                  </a:lnTo>
                  <a:lnTo>
                    <a:pt x="2027757" y="104763"/>
                  </a:lnTo>
                  <a:lnTo>
                    <a:pt x="2071047" y="122252"/>
                  </a:lnTo>
                  <a:lnTo>
                    <a:pt x="2113586" y="140973"/>
                  </a:lnTo>
                  <a:lnTo>
                    <a:pt x="2155347" y="160901"/>
                  </a:lnTo>
                  <a:lnTo>
                    <a:pt x="2196304" y="182010"/>
                  </a:lnTo>
                  <a:lnTo>
                    <a:pt x="2236428" y="204277"/>
                  </a:lnTo>
                  <a:lnTo>
                    <a:pt x="2275692" y="227676"/>
                  </a:lnTo>
                  <a:lnTo>
                    <a:pt x="2314070" y="252183"/>
                  </a:lnTo>
                  <a:lnTo>
                    <a:pt x="2351535" y="277773"/>
                  </a:lnTo>
                  <a:lnTo>
                    <a:pt x="2388058" y="304420"/>
                  </a:lnTo>
                  <a:lnTo>
                    <a:pt x="2423613" y="332101"/>
                  </a:lnTo>
                  <a:lnTo>
                    <a:pt x="2458173" y="360790"/>
                  </a:lnTo>
                  <a:lnTo>
                    <a:pt x="2491711" y="390463"/>
                  </a:lnTo>
                  <a:lnTo>
                    <a:pt x="2524199" y="421094"/>
                  </a:lnTo>
                  <a:lnTo>
                    <a:pt x="2555610" y="452659"/>
                  </a:lnTo>
                  <a:lnTo>
                    <a:pt x="2585917" y="485133"/>
                  </a:lnTo>
                  <a:lnTo>
                    <a:pt x="2615093" y="518491"/>
                  </a:lnTo>
                  <a:lnTo>
                    <a:pt x="2643110" y="552709"/>
                  </a:lnTo>
                  <a:lnTo>
                    <a:pt x="2669943" y="587761"/>
                  </a:lnTo>
                  <a:lnTo>
                    <a:pt x="2695562" y="623623"/>
                  </a:lnTo>
                  <a:lnTo>
                    <a:pt x="2719942" y="660270"/>
                  </a:lnTo>
                  <a:lnTo>
                    <a:pt x="2743054" y="697677"/>
                  </a:lnTo>
                  <a:lnTo>
                    <a:pt x="2764872" y="735819"/>
                  </a:lnTo>
                  <a:lnTo>
                    <a:pt x="2785369" y="774672"/>
                  </a:lnTo>
                  <a:lnTo>
                    <a:pt x="2804518" y="814210"/>
                  </a:lnTo>
                  <a:lnTo>
                    <a:pt x="2822291" y="854409"/>
                  </a:lnTo>
                  <a:lnTo>
                    <a:pt x="2838660" y="895245"/>
                  </a:lnTo>
                  <a:lnTo>
                    <a:pt x="2853600" y="936691"/>
                  </a:lnTo>
                  <a:lnTo>
                    <a:pt x="2867083" y="978724"/>
                  </a:lnTo>
                  <a:lnTo>
                    <a:pt x="2879081" y="1021319"/>
                  </a:lnTo>
                  <a:lnTo>
                    <a:pt x="2889567" y="1064450"/>
                  </a:lnTo>
                  <a:lnTo>
                    <a:pt x="2898515" y="1108093"/>
                  </a:lnTo>
                  <a:lnTo>
                    <a:pt x="2905897" y="1152223"/>
                  </a:lnTo>
                  <a:lnTo>
                    <a:pt x="2911686" y="1196816"/>
                  </a:lnTo>
                  <a:lnTo>
                    <a:pt x="2915854" y="1241845"/>
                  </a:lnTo>
                  <a:lnTo>
                    <a:pt x="2918375" y="1287288"/>
                  </a:lnTo>
                  <a:lnTo>
                    <a:pt x="2919222" y="1333119"/>
                  </a:lnTo>
                  <a:lnTo>
                    <a:pt x="2918375" y="1378949"/>
                  </a:lnTo>
                  <a:lnTo>
                    <a:pt x="2915854" y="1424392"/>
                  </a:lnTo>
                  <a:lnTo>
                    <a:pt x="2911686" y="1469421"/>
                  </a:lnTo>
                  <a:lnTo>
                    <a:pt x="2905897" y="1514014"/>
                  </a:lnTo>
                  <a:lnTo>
                    <a:pt x="2898515" y="1558144"/>
                  </a:lnTo>
                  <a:lnTo>
                    <a:pt x="2889567" y="1601787"/>
                  </a:lnTo>
                  <a:lnTo>
                    <a:pt x="2879081" y="1644918"/>
                  </a:lnTo>
                  <a:lnTo>
                    <a:pt x="2867083" y="1687513"/>
                  </a:lnTo>
                  <a:lnTo>
                    <a:pt x="2853600" y="1729546"/>
                  </a:lnTo>
                  <a:lnTo>
                    <a:pt x="2838660" y="1770992"/>
                  </a:lnTo>
                  <a:lnTo>
                    <a:pt x="2822291" y="1811828"/>
                  </a:lnTo>
                  <a:lnTo>
                    <a:pt x="2804518" y="1852027"/>
                  </a:lnTo>
                  <a:lnTo>
                    <a:pt x="2785369" y="1891565"/>
                  </a:lnTo>
                  <a:lnTo>
                    <a:pt x="2764872" y="1930418"/>
                  </a:lnTo>
                  <a:lnTo>
                    <a:pt x="2743054" y="1968560"/>
                  </a:lnTo>
                  <a:lnTo>
                    <a:pt x="2719942" y="2005967"/>
                  </a:lnTo>
                  <a:lnTo>
                    <a:pt x="2695562" y="2042614"/>
                  </a:lnTo>
                  <a:lnTo>
                    <a:pt x="2669943" y="2078476"/>
                  </a:lnTo>
                  <a:lnTo>
                    <a:pt x="2643110" y="2113528"/>
                  </a:lnTo>
                  <a:lnTo>
                    <a:pt x="2615093" y="2147746"/>
                  </a:lnTo>
                  <a:lnTo>
                    <a:pt x="2585917" y="2181104"/>
                  </a:lnTo>
                  <a:lnTo>
                    <a:pt x="2555610" y="2213578"/>
                  </a:lnTo>
                  <a:lnTo>
                    <a:pt x="2524199" y="2245143"/>
                  </a:lnTo>
                  <a:lnTo>
                    <a:pt x="2491711" y="2275774"/>
                  </a:lnTo>
                  <a:lnTo>
                    <a:pt x="2458173" y="2305447"/>
                  </a:lnTo>
                  <a:lnTo>
                    <a:pt x="2423613" y="2334136"/>
                  </a:lnTo>
                  <a:lnTo>
                    <a:pt x="2388058" y="2361817"/>
                  </a:lnTo>
                  <a:lnTo>
                    <a:pt x="2351535" y="2388464"/>
                  </a:lnTo>
                  <a:lnTo>
                    <a:pt x="2314070" y="2414054"/>
                  </a:lnTo>
                  <a:lnTo>
                    <a:pt x="2275692" y="2438561"/>
                  </a:lnTo>
                  <a:lnTo>
                    <a:pt x="2236428" y="2461960"/>
                  </a:lnTo>
                  <a:lnTo>
                    <a:pt x="2196304" y="2484227"/>
                  </a:lnTo>
                  <a:lnTo>
                    <a:pt x="2155347" y="2505336"/>
                  </a:lnTo>
                  <a:lnTo>
                    <a:pt x="2113586" y="2525264"/>
                  </a:lnTo>
                  <a:lnTo>
                    <a:pt x="2071047" y="2543985"/>
                  </a:lnTo>
                  <a:lnTo>
                    <a:pt x="2027757" y="2561474"/>
                  </a:lnTo>
                  <a:lnTo>
                    <a:pt x="1983743" y="2577706"/>
                  </a:lnTo>
                  <a:lnTo>
                    <a:pt x="1939033" y="2592658"/>
                  </a:lnTo>
                  <a:lnTo>
                    <a:pt x="1893654" y="2606303"/>
                  </a:lnTo>
                  <a:lnTo>
                    <a:pt x="1847633" y="2618617"/>
                  </a:lnTo>
                  <a:lnTo>
                    <a:pt x="1800996" y="2629575"/>
                  </a:lnTo>
                  <a:lnTo>
                    <a:pt x="1753773" y="2639153"/>
                  </a:lnTo>
                  <a:lnTo>
                    <a:pt x="1705988" y="2647325"/>
                  </a:lnTo>
                  <a:lnTo>
                    <a:pt x="1657671" y="2654068"/>
                  </a:lnTo>
                  <a:lnTo>
                    <a:pt x="1608847" y="2659355"/>
                  </a:lnTo>
                  <a:lnTo>
                    <a:pt x="1559544" y="2663162"/>
                  </a:lnTo>
                  <a:lnTo>
                    <a:pt x="1509790" y="2665464"/>
                  </a:lnTo>
                  <a:lnTo>
                    <a:pt x="1459611" y="2666238"/>
                  </a:lnTo>
                  <a:lnTo>
                    <a:pt x="1409431" y="2665464"/>
                  </a:lnTo>
                  <a:lnTo>
                    <a:pt x="1359677" y="2663162"/>
                  </a:lnTo>
                  <a:lnTo>
                    <a:pt x="1310374" y="2659355"/>
                  </a:lnTo>
                  <a:lnTo>
                    <a:pt x="1261550" y="2654068"/>
                  </a:lnTo>
                  <a:lnTo>
                    <a:pt x="1213233" y="2647325"/>
                  </a:lnTo>
                  <a:lnTo>
                    <a:pt x="1165448" y="2639153"/>
                  </a:lnTo>
                  <a:lnTo>
                    <a:pt x="1118225" y="2629575"/>
                  </a:lnTo>
                  <a:lnTo>
                    <a:pt x="1071588" y="2618617"/>
                  </a:lnTo>
                  <a:lnTo>
                    <a:pt x="1025567" y="2606303"/>
                  </a:lnTo>
                  <a:lnTo>
                    <a:pt x="980188" y="2592658"/>
                  </a:lnTo>
                  <a:lnTo>
                    <a:pt x="935478" y="2577706"/>
                  </a:lnTo>
                  <a:lnTo>
                    <a:pt x="891464" y="2561474"/>
                  </a:lnTo>
                  <a:lnTo>
                    <a:pt x="848174" y="2543985"/>
                  </a:lnTo>
                  <a:lnTo>
                    <a:pt x="805635" y="2525264"/>
                  </a:lnTo>
                  <a:lnTo>
                    <a:pt x="763874" y="2505336"/>
                  </a:lnTo>
                  <a:lnTo>
                    <a:pt x="722917" y="2484227"/>
                  </a:lnTo>
                  <a:lnTo>
                    <a:pt x="682793" y="2461960"/>
                  </a:lnTo>
                  <a:lnTo>
                    <a:pt x="643529" y="2438561"/>
                  </a:lnTo>
                  <a:lnTo>
                    <a:pt x="605151" y="2414054"/>
                  </a:lnTo>
                  <a:lnTo>
                    <a:pt x="567686" y="2388464"/>
                  </a:lnTo>
                  <a:lnTo>
                    <a:pt x="531163" y="2361817"/>
                  </a:lnTo>
                  <a:lnTo>
                    <a:pt x="495608" y="2334136"/>
                  </a:lnTo>
                  <a:lnTo>
                    <a:pt x="461048" y="2305447"/>
                  </a:lnTo>
                  <a:lnTo>
                    <a:pt x="427510" y="2275774"/>
                  </a:lnTo>
                  <a:lnTo>
                    <a:pt x="395022" y="2245143"/>
                  </a:lnTo>
                  <a:lnTo>
                    <a:pt x="363611" y="2213578"/>
                  </a:lnTo>
                  <a:lnTo>
                    <a:pt x="333304" y="2181104"/>
                  </a:lnTo>
                  <a:lnTo>
                    <a:pt x="304128" y="2147746"/>
                  </a:lnTo>
                  <a:lnTo>
                    <a:pt x="276111" y="2113528"/>
                  </a:lnTo>
                  <a:lnTo>
                    <a:pt x="249278" y="2078476"/>
                  </a:lnTo>
                  <a:lnTo>
                    <a:pt x="223659" y="2042614"/>
                  </a:lnTo>
                  <a:lnTo>
                    <a:pt x="199279" y="2005967"/>
                  </a:lnTo>
                  <a:lnTo>
                    <a:pt x="176167" y="1968560"/>
                  </a:lnTo>
                  <a:lnTo>
                    <a:pt x="154349" y="1930418"/>
                  </a:lnTo>
                  <a:lnTo>
                    <a:pt x="133852" y="1891565"/>
                  </a:lnTo>
                  <a:lnTo>
                    <a:pt x="114703" y="1852027"/>
                  </a:lnTo>
                  <a:lnTo>
                    <a:pt x="96930" y="1811828"/>
                  </a:lnTo>
                  <a:lnTo>
                    <a:pt x="80561" y="1770992"/>
                  </a:lnTo>
                  <a:lnTo>
                    <a:pt x="65621" y="1729546"/>
                  </a:lnTo>
                  <a:lnTo>
                    <a:pt x="52138" y="1687513"/>
                  </a:lnTo>
                  <a:lnTo>
                    <a:pt x="40140" y="1644918"/>
                  </a:lnTo>
                  <a:lnTo>
                    <a:pt x="29654" y="1601787"/>
                  </a:lnTo>
                  <a:lnTo>
                    <a:pt x="20706" y="1558144"/>
                  </a:lnTo>
                  <a:lnTo>
                    <a:pt x="13324" y="1514014"/>
                  </a:lnTo>
                  <a:lnTo>
                    <a:pt x="7535" y="1469421"/>
                  </a:lnTo>
                  <a:lnTo>
                    <a:pt x="3367" y="1424392"/>
                  </a:lnTo>
                  <a:lnTo>
                    <a:pt x="846" y="1378949"/>
                  </a:lnTo>
                  <a:lnTo>
                    <a:pt x="0" y="133311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56159" y="4879902"/>
            <a:ext cx="355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Arial"/>
                <a:cs typeface="Arial"/>
              </a:rPr>
              <a:t>C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93845" y="4246294"/>
            <a:ext cx="1061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1/6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17%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98267" y="4539603"/>
            <a:ext cx="1061720" cy="1264920"/>
          </a:xfrm>
          <a:prstGeom prst="rect">
            <a:avLst/>
          </a:prstGeom>
        </p:spPr>
        <p:txBody>
          <a:bodyPr vert="horz" wrap="square" lIns="0" tIns="290195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2285"/>
              </a:spcBef>
            </a:pPr>
            <a:r>
              <a:rPr sz="3600" spc="-50" dirty="0">
                <a:latin typeface="Arial"/>
                <a:cs typeface="Arial"/>
              </a:rPr>
              <a:t>A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latin typeface="Arial"/>
                <a:cs typeface="Arial"/>
              </a:rPr>
              <a:t>3/6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50%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8081" y="4611814"/>
            <a:ext cx="330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Arial"/>
                <a:cs typeface="Arial"/>
              </a:rPr>
              <a:t>B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36762" y="5498971"/>
            <a:ext cx="1061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2/6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33%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45763" y="3962780"/>
            <a:ext cx="1069975" cy="2705100"/>
            <a:chOff x="3945763" y="3962780"/>
            <a:chExt cx="1069975" cy="2705100"/>
          </a:xfrm>
        </p:grpSpPr>
        <p:sp>
          <p:nvSpPr>
            <p:cNvPr id="18" name="object 18"/>
            <p:cNvSpPr/>
            <p:nvPr/>
          </p:nvSpPr>
          <p:spPr>
            <a:xfrm>
              <a:off x="3952113" y="4355210"/>
              <a:ext cx="1057275" cy="1019175"/>
            </a:xfrm>
            <a:custGeom>
              <a:avLst/>
              <a:gdLst/>
              <a:ahLst/>
              <a:cxnLst/>
              <a:rect l="l" t="t" r="r" b="b"/>
              <a:pathLst>
                <a:path w="1057275" h="1019175">
                  <a:moveTo>
                    <a:pt x="0" y="1018794"/>
                  </a:moveTo>
                  <a:lnTo>
                    <a:pt x="105689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57447" y="3962780"/>
              <a:ext cx="0" cy="2705100"/>
            </a:xfrm>
            <a:custGeom>
              <a:avLst/>
              <a:gdLst/>
              <a:ahLst/>
              <a:cxnLst/>
              <a:rect l="l" t="t" r="r" b="b"/>
              <a:pathLst>
                <a:path h="2705100">
                  <a:moveTo>
                    <a:pt x="0" y="0"/>
                  </a:moveTo>
                  <a:lnTo>
                    <a:pt x="0" y="27051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977" y="483108"/>
            <a:ext cx="4002023" cy="122681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Rank</a:t>
            </a:r>
            <a:r>
              <a:rPr spc="-85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3403" y="1524000"/>
            <a:ext cx="9636760" cy="137731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60"/>
              </a:spcBef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All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individuals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sorted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according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fitness.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individual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 </a:t>
            </a:r>
            <a:r>
              <a:rPr sz="2000" spc="-20" dirty="0">
                <a:latin typeface="Calibri"/>
                <a:cs typeface="Calibri"/>
              </a:rPr>
              <a:t>density.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fitness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second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etc.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fitness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N </a:t>
            </a:r>
            <a:r>
              <a:rPr sz="2000" dirty="0">
                <a:latin typeface="Calibri"/>
                <a:cs typeface="Calibri"/>
              </a:rPr>
              <a:t>(number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chromosomes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population).)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4046" y="393981"/>
            <a:ext cx="1353552" cy="1138427"/>
          </a:xfrm>
          <a:prstGeom prst="rect">
            <a:avLst/>
          </a:prstGeom>
        </p:spPr>
      </p:pic>
      <p:pic>
        <p:nvPicPr>
          <p:cNvPr id="15" name="object 15" descr="graph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6444" y="3165335"/>
            <a:ext cx="4505705" cy="1295399"/>
          </a:xfrm>
          <a:prstGeom prst="rect">
            <a:avLst/>
          </a:prstGeom>
        </p:spPr>
      </p:pic>
      <p:pic>
        <p:nvPicPr>
          <p:cNvPr id="16" name="object 16" descr="graph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58537" y="4484703"/>
            <a:ext cx="4523993" cy="140055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062947" y="3551588"/>
            <a:ext cx="4095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Situation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before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ranking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(graph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fitnesses)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1339" y="5105400"/>
            <a:ext cx="10837545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444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Situation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after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ranking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(graph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fitnesses)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800" dirty="0">
              <a:latin typeface="Calibri"/>
              <a:cs typeface="Calibri"/>
            </a:endParaRPr>
          </a:p>
          <a:p>
            <a:pPr marL="12700" marR="267970">
              <a:lnSpc>
                <a:spcPct val="100000"/>
              </a:lnSpc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*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After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this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all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chromosomes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have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a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chance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to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selected.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But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this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method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can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lead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to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slower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convergence,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because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best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chromosomes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do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not</a:t>
            </a:r>
            <a:r>
              <a:rPr sz="1800" b="1" spc="-4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differ</a:t>
            </a:r>
            <a:r>
              <a:rPr sz="1800" b="1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so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much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from</a:t>
            </a:r>
            <a:r>
              <a:rPr sz="1800" b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other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ones.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08835"/>
            <a:ext cx="10894062" cy="3814506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25" dirty="0">
                <a:latin typeface="Calibri"/>
                <a:cs typeface="Calibri"/>
              </a:rPr>
              <a:t>Steady State </a:t>
            </a:r>
            <a:r>
              <a:rPr lang="vi-VN" sz="2800" spc="-25" dirty="0">
                <a:latin typeface="Calibri"/>
                <a:cs typeface="Calibri"/>
              </a:rPr>
              <a:t>Selection</a:t>
            </a:r>
            <a:r>
              <a:rPr lang="en-US" sz="2800" spc="-25" dirty="0">
                <a:latin typeface="Calibri"/>
                <a:cs typeface="Calibri"/>
              </a:rPr>
              <a:t>: keep most of the existing population and replace only a few better individuals as a parent</a:t>
            </a:r>
            <a:endParaRPr sz="2800" spc="-25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25" dirty="0">
                <a:latin typeface="Calibri"/>
                <a:cs typeface="Calibri"/>
              </a:rPr>
              <a:t>Tournament Selection</a:t>
            </a:r>
            <a:r>
              <a:rPr lang="en-US" sz="2800" spc="-25" dirty="0">
                <a:latin typeface="Calibri"/>
                <a:cs typeface="Calibri"/>
              </a:rPr>
              <a:t>: randomly choose a small group of chromosomes, compare their fitness, and select the best one</a:t>
            </a:r>
            <a:endParaRPr sz="2800" spc="-25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25" dirty="0">
                <a:latin typeface="Calibri"/>
                <a:cs typeface="Calibri"/>
              </a:rPr>
              <a:t>Elitism Selection</a:t>
            </a:r>
            <a:r>
              <a:rPr lang="en-US" sz="2800" spc="-25" dirty="0">
                <a:latin typeface="Calibri"/>
                <a:cs typeface="Calibri"/>
              </a:rPr>
              <a:t>: make sure that the best few chromosomes is carried over to the next generation</a:t>
            </a:r>
            <a:endParaRPr sz="2800" spc="-25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25" dirty="0">
                <a:latin typeface="Calibri"/>
                <a:cs typeface="Calibri"/>
              </a:rPr>
              <a:t>Others</a:t>
            </a:r>
            <a:r>
              <a:rPr lang="en-US" sz="2800" spc="-25" dirty="0">
                <a:latin typeface="Calibri"/>
                <a:cs typeface="Calibri"/>
              </a:rPr>
              <a:t>: there are other many selection strategies, depending on the problem and the genetic algorithm being used</a:t>
            </a:r>
            <a:endParaRPr sz="2800" spc="-2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10584"/>
            <a:ext cx="192468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Deletion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53634" y="1532251"/>
            <a:ext cx="2286000" cy="1973580"/>
            <a:chOff x="4953634" y="1532251"/>
            <a:chExt cx="2286000" cy="1973580"/>
          </a:xfrm>
        </p:grpSpPr>
        <p:sp>
          <p:nvSpPr>
            <p:cNvPr id="4" name="object 4"/>
            <p:cNvSpPr/>
            <p:nvPr/>
          </p:nvSpPr>
          <p:spPr>
            <a:xfrm>
              <a:off x="4966334" y="1544951"/>
              <a:ext cx="2260600" cy="584835"/>
            </a:xfrm>
            <a:custGeom>
              <a:avLst/>
              <a:gdLst/>
              <a:ahLst/>
              <a:cxnLst/>
              <a:rect l="l" t="t" r="r" b="b"/>
              <a:pathLst>
                <a:path w="2260600" h="584835">
                  <a:moveTo>
                    <a:pt x="2088946" y="0"/>
                  </a:moveTo>
                  <a:lnTo>
                    <a:pt x="171145" y="0"/>
                  </a:lnTo>
                  <a:lnTo>
                    <a:pt x="0" y="171145"/>
                  </a:lnTo>
                  <a:lnTo>
                    <a:pt x="0" y="413321"/>
                  </a:lnTo>
                  <a:lnTo>
                    <a:pt x="171145" y="584454"/>
                  </a:lnTo>
                  <a:lnTo>
                    <a:pt x="2088946" y="584454"/>
                  </a:lnTo>
                  <a:lnTo>
                    <a:pt x="2260092" y="413321"/>
                  </a:lnTo>
                  <a:lnTo>
                    <a:pt x="2260092" y="171145"/>
                  </a:lnTo>
                  <a:lnTo>
                    <a:pt x="208894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6334" y="1544951"/>
              <a:ext cx="2260600" cy="584835"/>
            </a:xfrm>
            <a:custGeom>
              <a:avLst/>
              <a:gdLst/>
              <a:ahLst/>
              <a:cxnLst/>
              <a:rect l="l" t="t" r="r" b="b"/>
              <a:pathLst>
                <a:path w="2260600" h="584835">
                  <a:moveTo>
                    <a:pt x="0" y="171145"/>
                  </a:moveTo>
                  <a:lnTo>
                    <a:pt x="171145" y="0"/>
                  </a:lnTo>
                  <a:lnTo>
                    <a:pt x="2088946" y="0"/>
                  </a:lnTo>
                  <a:lnTo>
                    <a:pt x="2260092" y="171145"/>
                  </a:lnTo>
                  <a:lnTo>
                    <a:pt x="2260092" y="413321"/>
                  </a:lnTo>
                  <a:lnTo>
                    <a:pt x="2088946" y="584454"/>
                  </a:lnTo>
                  <a:lnTo>
                    <a:pt x="171145" y="584454"/>
                  </a:lnTo>
                  <a:lnTo>
                    <a:pt x="0" y="413321"/>
                  </a:lnTo>
                  <a:lnTo>
                    <a:pt x="0" y="17114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6334" y="2908933"/>
              <a:ext cx="2260600" cy="584200"/>
            </a:xfrm>
            <a:custGeom>
              <a:avLst/>
              <a:gdLst/>
              <a:ahLst/>
              <a:cxnLst/>
              <a:rect l="l" t="t" r="r" b="b"/>
              <a:pathLst>
                <a:path w="2260600" h="584200">
                  <a:moveTo>
                    <a:pt x="2089175" y="0"/>
                  </a:moveTo>
                  <a:lnTo>
                    <a:pt x="170916" y="0"/>
                  </a:lnTo>
                  <a:lnTo>
                    <a:pt x="0" y="170916"/>
                  </a:lnTo>
                  <a:lnTo>
                    <a:pt x="0" y="412775"/>
                  </a:lnTo>
                  <a:lnTo>
                    <a:pt x="170916" y="583692"/>
                  </a:lnTo>
                  <a:lnTo>
                    <a:pt x="2089175" y="583692"/>
                  </a:lnTo>
                  <a:lnTo>
                    <a:pt x="2260092" y="412775"/>
                  </a:lnTo>
                  <a:lnTo>
                    <a:pt x="2260092" y="170916"/>
                  </a:lnTo>
                  <a:lnTo>
                    <a:pt x="208917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6334" y="2908933"/>
              <a:ext cx="2260600" cy="584200"/>
            </a:xfrm>
            <a:custGeom>
              <a:avLst/>
              <a:gdLst/>
              <a:ahLst/>
              <a:cxnLst/>
              <a:rect l="l" t="t" r="r" b="b"/>
              <a:pathLst>
                <a:path w="2260600" h="584200">
                  <a:moveTo>
                    <a:pt x="0" y="170916"/>
                  </a:moveTo>
                  <a:lnTo>
                    <a:pt x="170916" y="0"/>
                  </a:lnTo>
                  <a:lnTo>
                    <a:pt x="2089175" y="0"/>
                  </a:lnTo>
                  <a:lnTo>
                    <a:pt x="2260092" y="170916"/>
                  </a:lnTo>
                  <a:lnTo>
                    <a:pt x="2260092" y="412775"/>
                  </a:lnTo>
                  <a:lnTo>
                    <a:pt x="2089175" y="583692"/>
                  </a:lnTo>
                  <a:lnTo>
                    <a:pt x="170916" y="583692"/>
                  </a:lnTo>
                  <a:lnTo>
                    <a:pt x="0" y="412775"/>
                  </a:lnTo>
                  <a:lnTo>
                    <a:pt x="0" y="17091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6380" y="2140076"/>
              <a:ext cx="0" cy="686435"/>
            </a:xfrm>
            <a:custGeom>
              <a:avLst/>
              <a:gdLst/>
              <a:ahLst/>
              <a:cxnLst/>
              <a:rect l="l" t="t" r="r" b="b"/>
              <a:pathLst>
                <a:path h="686435">
                  <a:moveTo>
                    <a:pt x="0" y="0"/>
                  </a:moveTo>
                  <a:lnTo>
                    <a:pt x="0" y="68630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58284" y="281368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16939" y="1600771"/>
            <a:ext cx="10260330" cy="319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algn="ctr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"/>
                <a:cs typeface="Arial"/>
              </a:rPr>
              <a:t>population</a:t>
            </a:r>
            <a:endParaRPr sz="2800">
              <a:latin typeface="Arial"/>
              <a:cs typeface="Arial"/>
            </a:endParaRPr>
          </a:p>
          <a:p>
            <a:pPr marL="2540635">
              <a:lnSpc>
                <a:spcPct val="100000"/>
              </a:lnSpc>
              <a:spcBef>
                <a:spcPts val="1975"/>
              </a:spcBef>
            </a:pPr>
            <a:r>
              <a:rPr sz="2400" i="1" dirty="0">
                <a:latin typeface="Times New Roman"/>
                <a:cs typeface="Times New Roman"/>
              </a:rPr>
              <a:t>discarded</a:t>
            </a:r>
            <a:r>
              <a:rPr sz="2400" i="1" spc="-15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members</a:t>
            </a:r>
            <a:endParaRPr sz="2400">
              <a:latin typeface="Times New Roman"/>
              <a:cs typeface="Times New Roman"/>
            </a:endParaRPr>
          </a:p>
          <a:p>
            <a:pPr marL="97790" algn="ctr">
              <a:lnSpc>
                <a:spcPct val="100000"/>
              </a:lnSpc>
              <a:spcBef>
                <a:spcPts val="2525"/>
              </a:spcBef>
            </a:pPr>
            <a:r>
              <a:rPr sz="2800" spc="-10" dirty="0">
                <a:latin typeface="Arial"/>
                <a:cs typeface="Arial"/>
              </a:rPr>
              <a:t>discard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individuals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populations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replaced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iteration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replaced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21077" y="3326257"/>
            <a:ext cx="81464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Calibri"/>
                <a:cs typeface="Calibri"/>
              </a:rPr>
              <a:t>Using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Genetic</a:t>
            </a:r>
            <a:r>
              <a:rPr sz="2800" b="0" spc="-5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Algorithm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-5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Solve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Optimization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Problems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80" dirty="0"/>
              <a:t> </a:t>
            </a:r>
            <a:r>
              <a:rPr dirty="0"/>
              <a:t>Simple</a:t>
            </a:r>
            <a:r>
              <a:rPr spc="-6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12"/>
            <a:ext cx="5866130" cy="215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Traveling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Salesman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r>
              <a:rPr lang="en-US" sz="2800" spc="-10" dirty="0">
                <a:latin typeface="Calibri"/>
                <a:cs typeface="Calibri"/>
              </a:rPr>
              <a:t> (TSP)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Find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tour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cities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-20" dirty="0">
                <a:latin typeface="Calibri"/>
                <a:cs typeface="Calibri"/>
              </a:rPr>
              <a:t> that</a:t>
            </a:r>
            <a:endParaRPr sz="2800" dirty="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visited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once</a:t>
            </a:r>
            <a:endParaRPr sz="2400" dirty="0">
              <a:latin typeface="Calibri"/>
              <a:cs typeface="Calibri"/>
            </a:endParaRPr>
          </a:p>
          <a:p>
            <a:pPr marL="697230" indent="-227329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distance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traveled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minimized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8775"/>
            <a:ext cx="5666740" cy="1048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Representation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ordered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city </a:t>
            </a:r>
            <a:r>
              <a:rPr sz="2800" dirty="0">
                <a:latin typeface="Calibri"/>
                <a:cs typeface="Calibri"/>
              </a:rPr>
              <a:t>numbers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order-</a:t>
            </a:r>
            <a:r>
              <a:rPr sz="2800" i="1" dirty="0">
                <a:latin typeface="Calibri"/>
                <a:cs typeface="Calibri"/>
              </a:rPr>
              <a:t>based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GA.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212198"/>
              </p:ext>
            </p:extLst>
          </p:nvPr>
        </p:nvGraphicFramePr>
        <p:xfrm>
          <a:off x="897889" y="3287140"/>
          <a:ext cx="6271894" cy="760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1)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London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22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3)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Dunedin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2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5)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Beijing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ts val="22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7)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Tokyo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L="31750">
                        <a:lnSpc>
                          <a:spcPts val="28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2)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Venice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ts val="28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4)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Singapore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ts val="28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6)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Phoenix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88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8)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Victoria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164082"/>
              </p:ext>
            </p:extLst>
          </p:nvPr>
        </p:nvGraphicFramePr>
        <p:xfrm>
          <a:off x="914400" y="4714176"/>
          <a:ext cx="4857110" cy="866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9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41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1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marL="31750">
                        <a:lnSpc>
                          <a:spcPts val="2585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CityList1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ts val="2660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(3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2660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8)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CityList2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80010" algn="ctr">
                        <a:lnSpc>
                          <a:spcPts val="3275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(2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5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7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spc="-50" dirty="0">
                          <a:latin typeface="Calibri"/>
                          <a:cs typeface="Calibri"/>
                        </a:rPr>
                        <a:t>3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3275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4)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Crossover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7889" y="2909697"/>
          <a:ext cx="5421627" cy="78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7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08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73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Parent1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(3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8)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Parent2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(2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8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4)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9" y="1771269"/>
            <a:ext cx="4226560" cy="7747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60"/>
              </a:spcBef>
            </a:pPr>
            <a:r>
              <a:rPr sz="2400" spc="-10" dirty="0">
                <a:latin typeface="Calibri"/>
                <a:cs typeface="Calibri"/>
              </a:rPr>
              <a:t>Crossover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inversion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recombination: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613039"/>
              </p:ext>
            </p:extLst>
          </p:nvPr>
        </p:nvGraphicFramePr>
        <p:xfrm>
          <a:off x="897889" y="4392295"/>
          <a:ext cx="4236085" cy="687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1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Child1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2280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(3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3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ts val="2280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4)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31750">
                        <a:lnSpc>
                          <a:spcPts val="2585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Child2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ts val="2585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(2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7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8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85"/>
                        </a:lnSpc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ts val="2585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8)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16939" y="5452491"/>
            <a:ext cx="4486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crossover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operator.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85107" y="3296792"/>
            <a:ext cx="2044700" cy="368300"/>
          </a:xfrm>
          <a:custGeom>
            <a:avLst/>
            <a:gdLst/>
            <a:ahLst/>
            <a:cxnLst/>
            <a:rect l="l" t="t" r="r" b="b"/>
            <a:pathLst>
              <a:path w="2044700" h="368300">
                <a:moveTo>
                  <a:pt x="0" y="0"/>
                </a:moveTo>
                <a:lnTo>
                  <a:pt x="2044445" y="0"/>
                </a:lnTo>
                <a:lnTo>
                  <a:pt x="2044445" y="368045"/>
                </a:lnTo>
                <a:lnTo>
                  <a:pt x="0" y="36804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E4C241-23BE-FC40-D03D-6EADB5C23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4DAB067-4DBA-CAB2-C6A1-8DA206F1F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340" y="344677"/>
            <a:ext cx="11351260" cy="1634902"/>
          </a:xfrm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spcBef>
                <a:spcPts val="95"/>
              </a:spcBef>
            </a:pPr>
            <a:r>
              <a:rPr lang="en-US" dirty="0"/>
              <a:t>Permutation Crossover in GA for TSP</a:t>
            </a:r>
            <a:br>
              <a:rPr lang="sv-SE" dirty="0"/>
            </a:br>
            <a:endParaRPr spc="-2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21D4AA-9D41-22EB-4D63-785C7C47BF0A}"/>
              </a:ext>
            </a:extLst>
          </p:cNvPr>
          <p:cNvSpPr txBox="1"/>
          <p:nvPr/>
        </p:nvSpPr>
        <p:spPr>
          <a:xfrm>
            <a:off x="1066798" y="1786359"/>
            <a:ext cx="10436862" cy="139268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Goal: Create a new by combining two parent tours without repeating or losing any 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Permutation crossover preserves a valid tour for TSP, such as, every city appears exactly once, no duplicate cities, no missing cities</a:t>
            </a:r>
          </a:p>
          <a:p>
            <a:endParaRPr lang="sv-SE" sz="1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69E67B-2ECA-CF46-1B95-24E865AB9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553526"/>
              </p:ext>
            </p:extLst>
          </p:nvPr>
        </p:nvGraphicFramePr>
        <p:xfrm>
          <a:off x="1295400" y="3199830"/>
          <a:ext cx="9982201" cy="2276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4609214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596997891"/>
                    </a:ext>
                  </a:extLst>
                </a:gridCol>
                <a:gridCol w="4800601">
                  <a:extLst>
                    <a:ext uri="{9D8B030D-6E8A-4147-A177-3AD203B41FA5}">
                      <a16:colId xmlns:a16="http://schemas.microsoft.com/office/drawing/2014/main" val="4016214968"/>
                    </a:ext>
                  </a:extLst>
                </a:gridCol>
              </a:tblGrid>
              <a:tr h="4395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2000" kern="100" dirty="0">
                          <a:effectLst/>
                        </a:rPr>
                        <a:t>Crossover</a:t>
                      </a:r>
                      <a:endParaRPr lang="sv-S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2000" kern="100">
                          <a:effectLst/>
                        </a:rPr>
                        <a:t>Main Idea</a:t>
                      </a:r>
                      <a:endParaRPr lang="sv-SE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2000" kern="100" dirty="0">
                          <a:effectLst/>
                        </a:rPr>
                        <a:t>Simple </a:t>
                      </a:r>
                      <a:r>
                        <a:rPr lang="sv-SE" sz="2000" kern="100" dirty="0" err="1">
                          <a:effectLst/>
                        </a:rPr>
                        <a:t>Description</a:t>
                      </a:r>
                      <a:endParaRPr lang="sv-S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60207038"/>
                  </a:ext>
                </a:extLst>
              </a:tr>
              <a:tr h="8512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2000" kern="100" dirty="0">
                          <a:effectLst/>
                        </a:rPr>
                        <a:t>1. </a:t>
                      </a:r>
                      <a:r>
                        <a:rPr lang="sv-SE" sz="2000" kern="100" dirty="0" err="1">
                          <a:effectLst/>
                        </a:rPr>
                        <a:t>Partially</a:t>
                      </a:r>
                      <a:r>
                        <a:rPr lang="sv-SE" sz="2000" kern="100" dirty="0">
                          <a:effectLst/>
                        </a:rPr>
                        <a:t> </a:t>
                      </a:r>
                      <a:r>
                        <a:rPr lang="sv-SE" sz="2000" kern="100" dirty="0" err="1">
                          <a:effectLst/>
                        </a:rPr>
                        <a:t>Mapped</a:t>
                      </a:r>
                      <a:r>
                        <a:rPr lang="sv-SE" sz="2000" kern="100" dirty="0">
                          <a:effectLst/>
                        </a:rPr>
                        <a:t> Crossover (PMX)</a:t>
                      </a:r>
                      <a:endParaRPr lang="sv-S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2000" kern="100" dirty="0">
                          <a:effectLst/>
                        </a:rPr>
                        <a:t>Exchange a segment</a:t>
                      </a:r>
                      <a:endParaRPr lang="sv-S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Copies a section from one parent and uses a mapping to avoid duplicate cities.</a:t>
                      </a:r>
                      <a:endParaRPr lang="sv-S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5412530"/>
                  </a:ext>
                </a:extLst>
              </a:tr>
              <a:tr h="8512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2000" kern="100" dirty="0">
                          <a:effectLst/>
                        </a:rPr>
                        <a:t>2. Order Crossover (OX)</a:t>
                      </a:r>
                      <a:endParaRPr lang="sv-S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sv-SE" sz="2000" kern="100" dirty="0" err="1">
                          <a:effectLst/>
                        </a:rPr>
                        <a:t>Preserve</a:t>
                      </a:r>
                      <a:r>
                        <a:rPr lang="sv-SE" sz="2000" kern="100" dirty="0">
                          <a:effectLst/>
                        </a:rPr>
                        <a:t> city order</a:t>
                      </a:r>
                      <a:endParaRPr lang="sv-S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Copies a segment, then fills the remaining cities according to their order in the other parent.</a:t>
                      </a:r>
                      <a:endParaRPr lang="sv-SE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4345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787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5BCE7B-FFFC-F77D-7134-BCBFF761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5E437CE-2131-7700-8283-22D11A2AE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6966" y="32806"/>
            <a:ext cx="11351260" cy="957794"/>
          </a:xfrm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spcBef>
                <a:spcPts val="95"/>
              </a:spcBef>
            </a:pPr>
            <a:r>
              <a:rPr lang="en-US" dirty="0"/>
              <a:t>An Example of </a:t>
            </a:r>
            <a:r>
              <a:rPr lang="sv-SE" kern="100" dirty="0" err="1"/>
              <a:t>Partially</a:t>
            </a:r>
            <a:r>
              <a:rPr lang="sv-SE" kern="100" dirty="0"/>
              <a:t> </a:t>
            </a:r>
            <a:r>
              <a:rPr lang="sv-SE" kern="100" dirty="0" err="1"/>
              <a:t>Mapped</a:t>
            </a:r>
            <a:r>
              <a:rPr lang="sv-SE" kern="100" dirty="0"/>
              <a:t> Crossover</a:t>
            </a:r>
            <a:endParaRPr spc="-2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B3C38-923C-9444-7E1C-2C3FF6812A8D}"/>
              </a:ext>
            </a:extLst>
          </p:cNvPr>
          <p:cNvSpPr txBox="1"/>
          <p:nvPr/>
        </p:nvSpPr>
        <p:spPr>
          <a:xfrm>
            <a:off x="1485900" y="1143000"/>
            <a:ext cx="922020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: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1: (1 2 3 | 4 5 6 | 7 8 9)</a:t>
            </a:r>
          </a:p>
          <a:p>
            <a:pPr marL="457200" marR="0" lvl="1">
              <a:spcBef>
                <a:spcPts val="900"/>
              </a:spcBef>
              <a:spcAft>
                <a:spcPts val="900"/>
              </a:spcAft>
            </a:pP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        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2: (9 3 8 | 1 2 7 | 4 5 6) </a:t>
            </a:r>
          </a:p>
          <a:p>
            <a:pPr marL="171450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Crossover Points: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Choose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two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random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cut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points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(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marked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by |) </a:t>
            </a:r>
          </a:p>
          <a:p>
            <a:pPr marL="171450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Swap Segments: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middle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segment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1 (4 5 6) goes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into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1, and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middle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segment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2 (1 2 7) goes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into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2. 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Child 1: 9 3 8 | 4 5 6 |</a:t>
            </a:r>
            <a:r>
              <a:rPr lang="sv-SE" dirty="0">
                <a:solidFill>
                  <a:srgbClr val="FF0000"/>
                </a:solidFill>
                <a:latin typeface="Calibri Light"/>
                <a:cs typeface="Calibri Light"/>
              </a:rPr>
              <a:t>4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</a:t>
            </a:r>
            <a:r>
              <a:rPr lang="sv-SE" dirty="0">
                <a:solidFill>
                  <a:srgbClr val="FF0000"/>
                </a:solidFill>
                <a:latin typeface="Calibri Light"/>
                <a:cs typeface="Calibri Light"/>
              </a:rPr>
              <a:t>5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</a:t>
            </a:r>
            <a:r>
              <a:rPr lang="sv-SE" dirty="0">
                <a:solidFill>
                  <a:srgbClr val="FF0000"/>
                </a:solidFill>
                <a:latin typeface="Calibri Light"/>
                <a:cs typeface="Calibri Light"/>
              </a:rPr>
              <a:t>6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)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Child 2: (</a:t>
            </a:r>
            <a:r>
              <a:rPr lang="sv-SE" dirty="0">
                <a:solidFill>
                  <a:srgbClr val="FF0000"/>
                </a:solidFill>
                <a:latin typeface="Calibri Light"/>
                <a:cs typeface="Calibri Light"/>
              </a:rPr>
              <a:t>1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</a:t>
            </a:r>
            <a:r>
              <a:rPr lang="sv-SE" dirty="0">
                <a:solidFill>
                  <a:srgbClr val="FF0000"/>
                </a:solidFill>
                <a:latin typeface="Calibri Light"/>
                <a:cs typeface="Calibri Light"/>
              </a:rPr>
              <a:t>2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3 | 1 2 7 | </a:t>
            </a:r>
            <a:r>
              <a:rPr lang="sv-SE" dirty="0">
                <a:solidFill>
                  <a:srgbClr val="FF0000"/>
                </a:solidFill>
                <a:latin typeface="Calibri Light"/>
                <a:cs typeface="Calibri Light"/>
              </a:rPr>
              <a:t>7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8 9) </a:t>
            </a:r>
            <a:endParaRPr lang="sv-SE" dirty="0">
              <a:solidFill>
                <a:schemeClr val="tx1"/>
              </a:solidFill>
              <a:latin typeface="Calibri Light"/>
              <a:ea typeface="+mj-ea"/>
              <a:cs typeface="Calibri Light"/>
            </a:endParaRP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Resolve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Mappings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: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Map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swapped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numbers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to fix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conflicts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(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duplicates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)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using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correspondence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between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two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middle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segments (4↔1, 5↔2, 6↔7). 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Final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Offsprings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: 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Child 1: (9 3 8| 4 5 6 |1 2 7)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Child 2: (4 5 3| 1 2 7 |6 8 9)</a:t>
            </a:r>
            <a:endParaRPr lang="sv-SE" dirty="0">
              <a:solidFill>
                <a:schemeClr val="tx1"/>
              </a:solidFill>
              <a:latin typeface="Calibri Light"/>
              <a:ea typeface="+mj-ea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48592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6F0BA0-AEA2-074C-1A0A-DC59BC95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BB6DA72-5977-0AD7-C7BD-5CC762C440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740" y="76200"/>
            <a:ext cx="11351260" cy="957794"/>
          </a:xfrm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spcBef>
                <a:spcPts val="95"/>
              </a:spcBef>
            </a:pPr>
            <a:r>
              <a:rPr lang="en-US" dirty="0"/>
              <a:t>An Example of Order Crossover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F1F46-B9C4-2F36-9D7A-2FB89EB77B67}"/>
              </a:ext>
            </a:extLst>
          </p:cNvPr>
          <p:cNvSpPr txBox="1"/>
          <p:nvPr/>
        </p:nvSpPr>
        <p:spPr>
          <a:xfrm>
            <a:off x="1600200" y="1143000"/>
            <a:ext cx="922020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: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1: (1 2 3 | 4 5 6 | 7 8 9)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2: (9 3 8 | 1 2 7 | 4 5 6) </a:t>
            </a:r>
          </a:p>
          <a:p>
            <a:pPr marL="171450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Crossover Points: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Choose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two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random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cut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points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(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marked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by |) </a:t>
            </a:r>
          </a:p>
          <a:p>
            <a:pPr marL="171450" indent="-1714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§"/>
            </a:pP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Swap Segments: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middle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segment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1 (4 5 6) goes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into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1, and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middle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segment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2 (1 2 7) goes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into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2. 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chemeClr val="tx1"/>
                </a:solidFill>
                <a:latin typeface="Calibri Light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1: (- - -| 4 5 6 |- - -)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chemeClr val="tx1"/>
                </a:solidFill>
                <a:latin typeface="Calibri Light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2: (- - - | 1 2 7 |- - -)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Fill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remaining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empty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positions in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using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the order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of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cities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as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they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appear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in the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other</a:t>
            </a:r>
            <a:r>
              <a:rPr lang="sv-SE" dirty="0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 </a:t>
            </a:r>
            <a:r>
              <a:rPr lang="sv-SE" dirty="0" err="1">
                <a:solidFill>
                  <a:schemeClr val="tx1"/>
                </a:solidFill>
                <a:latin typeface="Calibri Light"/>
                <a:ea typeface="+mj-ea"/>
                <a:cs typeface="Calibri Light"/>
              </a:rPr>
              <a:t>Parent</a:t>
            </a:r>
            <a:endParaRPr lang="sv-SE" dirty="0">
              <a:solidFill>
                <a:schemeClr val="tx1"/>
              </a:solidFill>
              <a:latin typeface="Calibri Light"/>
              <a:ea typeface="+mj-ea"/>
              <a:cs typeface="Calibri Light"/>
            </a:endParaRP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chemeClr val="tx1"/>
                </a:solidFill>
                <a:latin typeface="Calibri Light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1: (9 3 8| 4 5 6 |1 2 7)</a:t>
            </a:r>
          </a:p>
          <a:p>
            <a:pPr marL="742950" marR="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chemeClr val="tx1"/>
                </a:solidFill>
                <a:latin typeface="Calibri Light"/>
                <a:cs typeface="Calibri Light"/>
              </a:rPr>
              <a:t>Offspring</a:t>
            </a:r>
            <a:r>
              <a:rPr lang="sv-SE" dirty="0">
                <a:solidFill>
                  <a:schemeClr val="tx1"/>
                </a:solidFill>
                <a:latin typeface="Calibri Light"/>
                <a:cs typeface="Calibri Light"/>
              </a:rPr>
              <a:t> 2: (3 4 5| 1 2 7 |6 8 9)</a:t>
            </a:r>
            <a:endParaRPr lang="sv-SE" dirty="0">
              <a:solidFill>
                <a:schemeClr val="tx1"/>
              </a:solidFill>
              <a:latin typeface="Calibri Light"/>
              <a:ea typeface="+mj-ea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24178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TSP</a:t>
            </a:r>
            <a:r>
              <a:rPr spc="-100" dirty="0"/>
              <a:t> </a:t>
            </a:r>
            <a:r>
              <a:rPr dirty="0"/>
              <a:t>Example:</a:t>
            </a:r>
            <a:r>
              <a:rPr spc="-100" dirty="0"/>
              <a:t> </a:t>
            </a:r>
            <a:r>
              <a:rPr dirty="0"/>
              <a:t>30</a:t>
            </a:r>
            <a:r>
              <a:rPr spc="-110" dirty="0"/>
              <a:t> </a:t>
            </a:r>
            <a:r>
              <a:rPr spc="-10" dirty="0"/>
              <a:t>Cities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5178" y="1895475"/>
            <a:ext cx="7210424" cy="349567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Solution</a:t>
            </a:r>
            <a:r>
              <a:rPr spc="-95" dirty="0"/>
              <a:t> </a:t>
            </a:r>
            <a:r>
              <a:rPr spc="-10" dirty="0"/>
              <a:t>(Distance</a:t>
            </a:r>
            <a:r>
              <a:rPr spc="-95" dirty="0"/>
              <a:t> </a:t>
            </a:r>
            <a:r>
              <a:rPr dirty="0"/>
              <a:t>=</a:t>
            </a:r>
            <a:r>
              <a:rPr spc="-120" dirty="0"/>
              <a:t> </a:t>
            </a:r>
            <a:r>
              <a:rPr spc="-20" dirty="0"/>
              <a:t>941)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9705" y="2214371"/>
            <a:ext cx="7381874" cy="389572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Solution</a:t>
            </a:r>
            <a:r>
              <a:rPr spc="-95" dirty="0"/>
              <a:t> </a:t>
            </a:r>
            <a:r>
              <a:rPr spc="-10" dirty="0"/>
              <a:t>(Distance</a:t>
            </a:r>
            <a:r>
              <a:rPr spc="-95" dirty="0"/>
              <a:t> </a:t>
            </a:r>
            <a:r>
              <a:rPr dirty="0"/>
              <a:t>=</a:t>
            </a:r>
            <a:r>
              <a:rPr spc="-120" dirty="0"/>
              <a:t> </a:t>
            </a:r>
            <a:r>
              <a:rPr spc="-20" dirty="0"/>
              <a:t>800)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4035" y="1765554"/>
            <a:ext cx="6067792" cy="390524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Solution</a:t>
            </a:r>
            <a:r>
              <a:rPr spc="-95" dirty="0"/>
              <a:t> </a:t>
            </a:r>
            <a:r>
              <a:rPr spc="-10" dirty="0"/>
              <a:t>(Distance</a:t>
            </a:r>
            <a:r>
              <a:rPr spc="-95" dirty="0"/>
              <a:t> </a:t>
            </a:r>
            <a:r>
              <a:rPr dirty="0"/>
              <a:t>=</a:t>
            </a:r>
            <a:r>
              <a:rPr spc="-120" dirty="0"/>
              <a:t> </a:t>
            </a:r>
            <a:r>
              <a:rPr spc="-20" dirty="0"/>
              <a:t>652)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83080" y="1619959"/>
            <a:ext cx="7996555" cy="4613910"/>
            <a:chOff x="1783080" y="1619959"/>
            <a:chExt cx="7996555" cy="4613910"/>
          </a:xfrm>
        </p:grpSpPr>
        <p:sp>
          <p:nvSpPr>
            <p:cNvPr id="4" name="object 4"/>
            <p:cNvSpPr/>
            <p:nvPr/>
          </p:nvSpPr>
          <p:spPr>
            <a:xfrm>
              <a:off x="1783080" y="1620010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83080" y="1620011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7991005" y="5108"/>
                  </a:moveTo>
                  <a:lnTo>
                    <a:pt x="0" y="5108"/>
                  </a:lnTo>
                  <a:lnTo>
                    <a:pt x="0" y="0"/>
                  </a:lnTo>
                  <a:lnTo>
                    <a:pt x="7991005" y="0"/>
                  </a:lnTo>
                  <a:lnTo>
                    <a:pt x="7991005" y="510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83081" y="1829475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76" y="0"/>
                  </a:lnTo>
                </a:path>
                <a:path w="7991475">
                  <a:moveTo>
                    <a:pt x="7981020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83080" y="1829472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18"/>
                  </a:lnTo>
                  <a:lnTo>
                    <a:pt x="19977" y="5118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18"/>
                  </a:lnTo>
                  <a:lnTo>
                    <a:pt x="7991005" y="5118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3082" y="2038940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75" y="0"/>
                  </a:lnTo>
                </a:path>
                <a:path w="7991475">
                  <a:moveTo>
                    <a:pt x="7981019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3080" y="2038946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83083" y="2248405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74" y="0"/>
                  </a:lnTo>
                </a:path>
                <a:path w="7991475">
                  <a:moveTo>
                    <a:pt x="7981018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3080" y="2248407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18"/>
                  </a:lnTo>
                  <a:lnTo>
                    <a:pt x="19977" y="5118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18"/>
                  </a:lnTo>
                  <a:lnTo>
                    <a:pt x="7991005" y="5118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83084" y="2457870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73" y="0"/>
                  </a:lnTo>
                </a:path>
                <a:path w="7991475">
                  <a:moveTo>
                    <a:pt x="7981018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83080" y="2457868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18"/>
                  </a:lnTo>
                  <a:lnTo>
                    <a:pt x="19977" y="5118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18"/>
                  </a:lnTo>
                  <a:lnTo>
                    <a:pt x="7991005" y="5118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3084" y="2667335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73" y="0"/>
                  </a:lnTo>
                </a:path>
                <a:path w="7991475">
                  <a:moveTo>
                    <a:pt x="7981017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83080" y="2667342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83085" y="2876800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72" y="0"/>
                  </a:lnTo>
                </a:path>
                <a:path w="7991475">
                  <a:moveTo>
                    <a:pt x="7981016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3080" y="2876803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83086" y="3086265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71" y="0"/>
                  </a:lnTo>
                </a:path>
                <a:path w="7991475">
                  <a:moveTo>
                    <a:pt x="7981015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83080" y="3086277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83087" y="3295730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70" y="0"/>
                  </a:lnTo>
                </a:path>
                <a:path w="7991475">
                  <a:moveTo>
                    <a:pt x="7981014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83080" y="3295725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18"/>
                  </a:lnTo>
                  <a:lnTo>
                    <a:pt x="19977" y="5118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18"/>
                  </a:lnTo>
                  <a:lnTo>
                    <a:pt x="7991005" y="5118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83087" y="3505194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9" y="0"/>
                  </a:lnTo>
                </a:path>
                <a:path w="7991475">
                  <a:moveTo>
                    <a:pt x="7981014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83080" y="3505199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83088" y="3714659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9" y="0"/>
                  </a:lnTo>
                </a:path>
                <a:path w="7991475">
                  <a:moveTo>
                    <a:pt x="7981013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83080" y="3714661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18"/>
                  </a:lnTo>
                  <a:lnTo>
                    <a:pt x="19977" y="5118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18"/>
                  </a:lnTo>
                  <a:lnTo>
                    <a:pt x="7991005" y="5118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83089" y="3924124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8" y="0"/>
                  </a:lnTo>
                </a:path>
                <a:path w="7991475">
                  <a:moveTo>
                    <a:pt x="7981012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83080" y="3924134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83090" y="4133589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7" y="0"/>
                  </a:lnTo>
                </a:path>
                <a:path w="7991475">
                  <a:moveTo>
                    <a:pt x="7981011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83080" y="4133595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83091" y="4343054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6" y="0"/>
                  </a:lnTo>
                </a:path>
                <a:path w="7991475">
                  <a:moveTo>
                    <a:pt x="7981011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83080" y="4343056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83091" y="4552519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6" y="0"/>
                  </a:lnTo>
                </a:path>
                <a:path w="7991475">
                  <a:moveTo>
                    <a:pt x="7981010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83080" y="4552530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83092" y="4761984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5" y="0"/>
                  </a:lnTo>
                </a:path>
                <a:path w="7991475">
                  <a:moveTo>
                    <a:pt x="7981009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83080" y="4761991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77" y="5105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1010" y="0"/>
                  </a:lnTo>
                  <a:lnTo>
                    <a:pt x="7981010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83093" y="4971449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4" y="0"/>
                  </a:lnTo>
                </a:path>
                <a:path w="7991475">
                  <a:moveTo>
                    <a:pt x="7981008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83080" y="4971452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77" y="0"/>
                  </a:moveTo>
                  <a:lnTo>
                    <a:pt x="0" y="0"/>
                  </a:lnTo>
                  <a:lnTo>
                    <a:pt x="0" y="5118"/>
                  </a:lnTo>
                  <a:lnTo>
                    <a:pt x="19977" y="5118"/>
                  </a:lnTo>
                  <a:lnTo>
                    <a:pt x="19977" y="0"/>
                  </a:lnTo>
                  <a:close/>
                </a:path>
                <a:path w="7991475" h="5714">
                  <a:moveTo>
                    <a:pt x="7991018" y="0"/>
                  </a:moveTo>
                  <a:lnTo>
                    <a:pt x="7981010" y="0"/>
                  </a:lnTo>
                  <a:lnTo>
                    <a:pt x="7981010" y="5118"/>
                  </a:lnTo>
                  <a:lnTo>
                    <a:pt x="7991018" y="5118"/>
                  </a:lnTo>
                  <a:lnTo>
                    <a:pt x="7991018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83094" y="5180914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3" y="0"/>
                  </a:lnTo>
                </a:path>
                <a:path w="7991475">
                  <a:moveTo>
                    <a:pt x="7981007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83092" y="5180914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64" y="0"/>
                  </a:moveTo>
                  <a:lnTo>
                    <a:pt x="0" y="0"/>
                  </a:lnTo>
                  <a:lnTo>
                    <a:pt x="0" y="5118"/>
                  </a:lnTo>
                  <a:lnTo>
                    <a:pt x="19964" y="5118"/>
                  </a:lnTo>
                  <a:lnTo>
                    <a:pt x="19964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0997" y="0"/>
                  </a:lnTo>
                  <a:lnTo>
                    <a:pt x="7980997" y="5118"/>
                  </a:lnTo>
                  <a:lnTo>
                    <a:pt x="7991005" y="5118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83094" y="5390379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2" y="0"/>
                  </a:lnTo>
                </a:path>
                <a:path w="7991475">
                  <a:moveTo>
                    <a:pt x="7981007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83092" y="5390387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64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64" y="5105"/>
                  </a:lnTo>
                  <a:lnTo>
                    <a:pt x="19964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0997" y="0"/>
                  </a:lnTo>
                  <a:lnTo>
                    <a:pt x="7980997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83095" y="5599844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2" y="0"/>
                  </a:lnTo>
                </a:path>
                <a:path w="7991475">
                  <a:moveTo>
                    <a:pt x="7981006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783092" y="5599849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64" y="0"/>
                  </a:moveTo>
                  <a:lnTo>
                    <a:pt x="0" y="0"/>
                  </a:lnTo>
                  <a:lnTo>
                    <a:pt x="0" y="5118"/>
                  </a:lnTo>
                  <a:lnTo>
                    <a:pt x="19964" y="5118"/>
                  </a:lnTo>
                  <a:lnTo>
                    <a:pt x="19964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0997" y="0"/>
                  </a:lnTo>
                  <a:lnTo>
                    <a:pt x="7980997" y="5118"/>
                  </a:lnTo>
                  <a:lnTo>
                    <a:pt x="7991005" y="5118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83096" y="5809309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1" y="0"/>
                  </a:lnTo>
                </a:path>
                <a:path w="7991475">
                  <a:moveTo>
                    <a:pt x="7981005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83092" y="5809322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64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64" y="5105"/>
                  </a:lnTo>
                  <a:lnTo>
                    <a:pt x="19964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0997" y="0"/>
                  </a:lnTo>
                  <a:lnTo>
                    <a:pt x="7980997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783097" y="6018774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19960" y="0"/>
                  </a:lnTo>
                </a:path>
                <a:path w="7991475">
                  <a:moveTo>
                    <a:pt x="7981004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83092" y="6018783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19964" y="0"/>
                  </a:moveTo>
                  <a:lnTo>
                    <a:pt x="0" y="0"/>
                  </a:lnTo>
                  <a:lnTo>
                    <a:pt x="0" y="5105"/>
                  </a:lnTo>
                  <a:lnTo>
                    <a:pt x="19964" y="5105"/>
                  </a:lnTo>
                  <a:lnTo>
                    <a:pt x="19964" y="0"/>
                  </a:lnTo>
                  <a:close/>
                </a:path>
                <a:path w="7991475" h="5714">
                  <a:moveTo>
                    <a:pt x="7991005" y="0"/>
                  </a:moveTo>
                  <a:lnTo>
                    <a:pt x="7980997" y="0"/>
                  </a:lnTo>
                  <a:lnTo>
                    <a:pt x="7980997" y="5105"/>
                  </a:lnTo>
                  <a:lnTo>
                    <a:pt x="7991005" y="5105"/>
                  </a:lnTo>
                  <a:lnTo>
                    <a:pt x="7991005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83098" y="6228239"/>
              <a:ext cx="7991475" cy="0"/>
            </a:xfrm>
            <a:custGeom>
              <a:avLst/>
              <a:gdLst/>
              <a:ahLst/>
              <a:cxnLst/>
              <a:rect l="l" t="t" r="r" b="b"/>
              <a:pathLst>
                <a:path w="7991475">
                  <a:moveTo>
                    <a:pt x="0" y="0"/>
                  </a:moveTo>
                  <a:lnTo>
                    <a:pt x="7991010" y="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83097" y="6228235"/>
              <a:ext cx="7991475" cy="5715"/>
            </a:xfrm>
            <a:custGeom>
              <a:avLst/>
              <a:gdLst/>
              <a:ahLst/>
              <a:cxnLst/>
              <a:rect l="l" t="t" r="r" b="b"/>
              <a:pathLst>
                <a:path w="7991475" h="5714">
                  <a:moveTo>
                    <a:pt x="7991005" y="5108"/>
                  </a:moveTo>
                  <a:lnTo>
                    <a:pt x="0" y="5108"/>
                  </a:lnTo>
                  <a:lnTo>
                    <a:pt x="0" y="0"/>
                  </a:lnTo>
                  <a:lnTo>
                    <a:pt x="7991005" y="0"/>
                  </a:lnTo>
                  <a:lnTo>
                    <a:pt x="7991005" y="5108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783098" y="1619974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0"/>
                  </a:moveTo>
                  <a:lnTo>
                    <a:pt x="0" y="4613372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783098" y="1620006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80" h="4613910">
                  <a:moveTo>
                    <a:pt x="4994" y="4613336"/>
                  </a:moveTo>
                  <a:lnTo>
                    <a:pt x="0" y="4613336"/>
                  </a:lnTo>
                  <a:lnTo>
                    <a:pt x="0" y="0"/>
                  </a:lnTo>
                  <a:lnTo>
                    <a:pt x="4994" y="0"/>
                  </a:lnTo>
                  <a:lnTo>
                    <a:pt x="4994" y="4613336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82200" y="1619973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0"/>
                  </a:moveTo>
                  <a:lnTo>
                    <a:pt x="0" y="20469"/>
                  </a:lnTo>
                </a:path>
                <a:path h="4613910">
                  <a:moveTo>
                    <a:pt x="0" y="4511226"/>
                  </a:moveTo>
                  <a:lnTo>
                    <a:pt x="0" y="4613372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82189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80" h="4613910">
                  <a:moveTo>
                    <a:pt x="5003" y="4511192"/>
                  </a:moveTo>
                  <a:lnTo>
                    <a:pt x="0" y="4511192"/>
                  </a:lnTo>
                  <a:lnTo>
                    <a:pt x="0" y="4613338"/>
                  </a:lnTo>
                  <a:lnTo>
                    <a:pt x="5003" y="4613338"/>
                  </a:lnTo>
                  <a:lnTo>
                    <a:pt x="5003" y="4511192"/>
                  </a:lnTo>
                  <a:close/>
                </a:path>
                <a:path w="5080" h="4613910">
                  <a:moveTo>
                    <a:pt x="5003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5003" y="20434"/>
                  </a:lnTo>
                  <a:lnTo>
                    <a:pt x="5003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81302" y="1619971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4511228"/>
                  </a:moveTo>
                  <a:lnTo>
                    <a:pt x="0" y="4613372"/>
                  </a:lnTo>
                </a:path>
                <a:path h="4613910">
                  <a:moveTo>
                    <a:pt x="0" y="0"/>
                  </a:moveTo>
                  <a:lnTo>
                    <a:pt x="0" y="2047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81298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4991" y="4511192"/>
                  </a:moveTo>
                  <a:lnTo>
                    <a:pt x="0" y="4511192"/>
                  </a:lnTo>
                  <a:lnTo>
                    <a:pt x="0" y="4613338"/>
                  </a:lnTo>
                  <a:lnTo>
                    <a:pt x="4991" y="4613338"/>
                  </a:lnTo>
                  <a:lnTo>
                    <a:pt x="4991" y="4511192"/>
                  </a:lnTo>
                  <a:close/>
                </a:path>
                <a:path w="5079" h="4613910">
                  <a:moveTo>
                    <a:pt x="4991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4991" y="20434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180404" y="1619969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0"/>
                  </a:moveTo>
                  <a:lnTo>
                    <a:pt x="0" y="20472"/>
                  </a:lnTo>
                </a:path>
                <a:path h="4613910">
                  <a:moveTo>
                    <a:pt x="0" y="4511230"/>
                  </a:moveTo>
                  <a:lnTo>
                    <a:pt x="0" y="4613372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80395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4991" y="4511192"/>
                  </a:moveTo>
                  <a:lnTo>
                    <a:pt x="0" y="4511192"/>
                  </a:lnTo>
                  <a:lnTo>
                    <a:pt x="0" y="4613338"/>
                  </a:lnTo>
                  <a:lnTo>
                    <a:pt x="4991" y="4613338"/>
                  </a:lnTo>
                  <a:lnTo>
                    <a:pt x="4991" y="4511192"/>
                  </a:lnTo>
                  <a:close/>
                </a:path>
                <a:path w="5079" h="4613910">
                  <a:moveTo>
                    <a:pt x="4991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4991" y="20434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979506" y="1619968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4511231"/>
                  </a:moveTo>
                  <a:lnTo>
                    <a:pt x="0" y="4613372"/>
                  </a:lnTo>
                </a:path>
                <a:path h="4613910">
                  <a:moveTo>
                    <a:pt x="0" y="0"/>
                  </a:moveTo>
                  <a:lnTo>
                    <a:pt x="0" y="20473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979505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4991" y="4511192"/>
                  </a:moveTo>
                  <a:lnTo>
                    <a:pt x="0" y="4511192"/>
                  </a:lnTo>
                  <a:lnTo>
                    <a:pt x="0" y="4613338"/>
                  </a:lnTo>
                  <a:lnTo>
                    <a:pt x="4991" y="4613338"/>
                  </a:lnTo>
                  <a:lnTo>
                    <a:pt x="4991" y="4511192"/>
                  </a:lnTo>
                  <a:close/>
                </a:path>
                <a:path w="5079" h="4613910">
                  <a:moveTo>
                    <a:pt x="4991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4991" y="20434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78607" y="1619966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4511233"/>
                  </a:moveTo>
                  <a:lnTo>
                    <a:pt x="0" y="4613372"/>
                  </a:lnTo>
                </a:path>
                <a:path h="4613910">
                  <a:moveTo>
                    <a:pt x="0" y="0"/>
                  </a:moveTo>
                  <a:lnTo>
                    <a:pt x="0" y="20475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778601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4991" y="4511192"/>
                  </a:moveTo>
                  <a:lnTo>
                    <a:pt x="0" y="4511192"/>
                  </a:lnTo>
                  <a:lnTo>
                    <a:pt x="0" y="4613338"/>
                  </a:lnTo>
                  <a:lnTo>
                    <a:pt x="4991" y="4613338"/>
                  </a:lnTo>
                  <a:lnTo>
                    <a:pt x="4991" y="4511192"/>
                  </a:lnTo>
                  <a:close/>
                </a:path>
                <a:path w="5079" h="4613910">
                  <a:moveTo>
                    <a:pt x="4991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4991" y="20434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77709" y="1619965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4511234"/>
                  </a:moveTo>
                  <a:lnTo>
                    <a:pt x="0" y="4613372"/>
                  </a:lnTo>
                </a:path>
                <a:path h="4613910">
                  <a:moveTo>
                    <a:pt x="0" y="0"/>
                  </a:moveTo>
                  <a:lnTo>
                    <a:pt x="0" y="20476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577698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5003" y="4511192"/>
                  </a:moveTo>
                  <a:lnTo>
                    <a:pt x="0" y="4511192"/>
                  </a:lnTo>
                  <a:lnTo>
                    <a:pt x="0" y="4613338"/>
                  </a:lnTo>
                  <a:lnTo>
                    <a:pt x="5003" y="4613338"/>
                  </a:lnTo>
                  <a:lnTo>
                    <a:pt x="5003" y="4511192"/>
                  </a:lnTo>
                  <a:close/>
                </a:path>
                <a:path w="5079" h="4613910">
                  <a:moveTo>
                    <a:pt x="5003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5003" y="20434"/>
                  </a:lnTo>
                  <a:lnTo>
                    <a:pt x="5003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376811" y="1619963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4511236"/>
                  </a:moveTo>
                  <a:lnTo>
                    <a:pt x="0" y="4613372"/>
                  </a:lnTo>
                </a:path>
                <a:path h="4613910">
                  <a:moveTo>
                    <a:pt x="0" y="0"/>
                  </a:moveTo>
                  <a:lnTo>
                    <a:pt x="0" y="20478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376808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4991" y="4511192"/>
                  </a:moveTo>
                  <a:lnTo>
                    <a:pt x="0" y="4511192"/>
                  </a:lnTo>
                  <a:lnTo>
                    <a:pt x="0" y="4613326"/>
                  </a:lnTo>
                  <a:lnTo>
                    <a:pt x="4991" y="4613326"/>
                  </a:lnTo>
                  <a:lnTo>
                    <a:pt x="4991" y="4511192"/>
                  </a:lnTo>
                  <a:close/>
                </a:path>
                <a:path w="5079" h="4613910">
                  <a:moveTo>
                    <a:pt x="4991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4991" y="20434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175912" y="1619962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4511237"/>
                  </a:moveTo>
                  <a:lnTo>
                    <a:pt x="0" y="4613372"/>
                  </a:lnTo>
                </a:path>
                <a:path h="4613910">
                  <a:moveTo>
                    <a:pt x="0" y="0"/>
                  </a:moveTo>
                  <a:lnTo>
                    <a:pt x="0" y="20480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175904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4991" y="4511192"/>
                  </a:moveTo>
                  <a:lnTo>
                    <a:pt x="0" y="4511192"/>
                  </a:lnTo>
                  <a:lnTo>
                    <a:pt x="0" y="4613326"/>
                  </a:lnTo>
                  <a:lnTo>
                    <a:pt x="4991" y="4613326"/>
                  </a:lnTo>
                  <a:lnTo>
                    <a:pt x="4991" y="4511192"/>
                  </a:lnTo>
                  <a:close/>
                </a:path>
                <a:path w="5079" h="4613910">
                  <a:moveTo>
                    <a:pt x="4991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4991" y="20434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975014" y="1619960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4511239"/>
                  </a:moveTo>
                  <a:lnTo>
                    <a:pt x="0" y="4613372"/>
                  </a:lnTo>
                </a:path>
                <a:path h="4613910">
                  <a:moveTo>
                    <a:pt x="0" y="0"/>
                  </a:moveTo>
                  <a:lnTo>
                    <a:pt x="0" y="20481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975014" y="1620011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4991" y="4511192"/>
                  </a:moveTo>
                  <a:lnTo>
                    <a:pt x="0" y="4511192"/>
                  </a:lnTo>
                  <a:lnTo>
                    <a:pt x="0" y="4613326"/>
                  </a:lnTo>
                  <a:lnTo>
                    <a:pt x="4991" y="4613326"/>
                  </a:lnTo>
                  <a:lnTo>
                    <a:pt x="4991" y="4511192"/>
                  </a:lnTo>
                  <a:close/>
                </a:path>
                <a:path w="5079" h="4613910">
                  <a:moveTo>
                    <a:pt x="4991" y="0"/>
                  </a:moveTo>
                  <a:lnTo>
                    <a:pt x="0" y="0"/>
                  </a:lnTo>
                  <a:lnTo>
                    <a:pt x="0" y="20434"/>
                  </a:lnTo>
                  <a:lnTo>
                    <a:pt x="4991" y="20434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774116" y="1619959"/>
              <a:ext cx="0" cy="4613910"/>
            </a:xfrm>
            <a:custGeom>
              <a:avLst/>
              <a:gdLst/>
              <a:ahLst/>
              <a:cxnLst/>
              <a:rect l="l" t="t" r="r" b="b"/>
              <a:pathLst>
                <a:path h="4613910">
                  <a:moveTo>
                    <a:pt x="0" y="0"/>
                  </a:moveTo>
                  <a:lnTo>
                    <a:pt x="0" y="4613372"/>
                  </a:lnTo>
                </a:path>
              </a:pathLst>
            </a:custGeom>
            <a:ln w="3175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774116" y="1620006"/>
              <a:ext cx="5080" cy="4613910"/>
            </a:xfrm>
            <a:custGeom>
              <a:avLst/>
              <a:gdLst/>
              <a:ahLst/>
              <a:cxnLst/>
              <a:rect l="l" t="t" r="r" b="b"/>
              <a:pathLst>
                <a:path w="5079" h="4613910">
                  <a:moveTo>
                    <a:pt x="4969" y="4613321"/>
                  </a:moveTo>
                  <a:lnTo>
                    <a:pt x="0" y="4613321"/>
                  </a:lnTo>
                  <a:lnTo>
                    <a:pt x="0" y="0"/>
                  </a:lnTo>
                  <a:lnTo>
                    <a:pt x="4969" y="0"/>
                  </a:lnTo>
                  <a:lnTo>
                    <a:pt x="4969" y="4613321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617143" y="2503854"/>
              <a:ext cx="6852920" cy="2896870"/>
            </a:xfrm>
            <a:custGeom>
              <a:avLst/>
              <a:gdLst/>
              <a:ahLst/>
              <a:cxnLst/>
              <a:rect l="l" t="t" r="r" b="b"/>
              <a:pathLst>
                <a:path w="6852920" h="2896870">
                  <a:moveTo>
                    <a:pt x="0" y="0"/>
                  </a:moveTo>
                  <a:lnTo>
                    <a:pt x="6852291" y="0"/>
                  </a:lnTo>
                  <a:lnTo>
                    <a:pt x="6852291" y="2896768"/>
                  </a:lnTo>
                  <a:lnTo>
                    <a:pt x="0" y="2896768"/>
                  </a:lnTo>
                  <a:lnTo>
                    <a:pt x="0" y="0"/>
                  </a:lnTo>
                  <a:close/>
                </a:path>
              </a:pathLst>
            </a:custGeom>
            <a:ln w="50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617144" y="2503853"/>
              <a:ext cx="0" cy="2896870"/>
            </a:xfrm>
            <a:custGeom>
              <a:avLst/>
              <a:gdLst/>
              <a:ahLst/>
              <a:cxnLst/>
              <a:rect l="l" t="t" r="r" b="b"/>
              <a:pathLst>
                <a:path h="2896870">
                  <a:moveTo>
                    <a:pt x="0" y="2896768"/>
                  </a:moveTo>
                  <a:lnTo>
                    <a:pt x="0" y="0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77189" y="5400621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10" y="0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577189" y="4920380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10" y="0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577190" y="4435030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10" y="0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577190" y="3949680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10" y="0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577191" y="3469439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10" y="0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577191" y="2984089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10" y="0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577191" y="2503848"/>
              <a:ext cx="80010" cy="0"/>
            </a:xfrm>
            <a:custGeom>
              <a:avLst/>
              <a:gdLst/>
              <a:ahLst/>
              <a:cxnLst/>
              <a:rect l="l" t="t" r="r" b="b"/>
              <a:pathLst>
                <a:path w="80010">
                  <a:moveTo>
                    <a:pt x="0" y="0"/>
                  </a:moveTo>
                  <a:lnTo>
                    <a:pt x="79910" y="0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17147" y="5400616"/>
              <a:ext cx="6852920" cy="0"/>
            </a:xfrm>
            <a:custGeom>
              <a:avLst/>
              <a:gdLst/>
              <a:ahLst/>
              <a:cxnLst/>
              <a:rect l="l" t="t" r="r" b="b"/>
              <a:pathLst>
                <a:path w="6852920">
                  <a:moveTo>
                    <a:pt x="0" y="0"/>
                  </a:moveTo>
                  <a:lnTo>
                    <a:pt x="6852291" y="0"/>
                  </a:lnTo>
                </a:path>
              </a:pathLst>
            </a:custGeom>
            <a:ln w="5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617147" y="5359743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306372" y="5359743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990603" y="5359742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674834" y="5359741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359064" y="5359740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043295" y="5359740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727525" y="5359739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411756" y="5359738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095987" y="5359737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780217" y="5359736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469442" y="5359736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4">
                  <a:moveTo>
                    <a:pt x="0" y="0"/>
                  </a:moveTo>
                  <a:lnTo>
                    <a:pt x="0" y="81743"/>
                  </a:lnTo>
                </a:path>
              </a:pathLst>
            </a:custGeom>
            <a:ln w="49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756994" y="3009623"/>
              <a:ext cx="6093460" cy="2222500"/>
            </a:xfrm>
            <a:custGeom>
              <a:avLst/>
              <a:gdLst/>
              <a:ahLst/>
              <a:cxnLst/>
              <a:rect l="l" t="t" r="r" b="b"/>
              <a:pathLst>
                <a:path w="6093459" h="2222500">
                  <a:moveTo>
                    <a:pt x="134848" y="1185273"/>
                  </a:moveTo>
                  <a:lnTo>
                    <a:pt x="0" y="0"/>
                  </a:lnTo>
                  <a:lnTo>
                    <a:pt x="1573230" y="1476483"/>
                  </a:lnTo>
                  <a:lnTo>
                    <a:pt x="1503308" y="1379413"/>
                  </a:lnTo>
                  <a:lnTo>
                    <a:pt x="2876763" y="1548008"/>
                  </a:lnTo>
                  <a:lnTo>
                    <a:pt x="2941690" y="1885198"/>
                  </a:lnTo>
                  <a:lnTo>
                    <a:pt x="2671994" y="1762584"/>
                  </a:lnTo>
                  <a:lnTo>
                    <a:pt x="5478836" y="2222388"/>
                  </a:lnTo>
                  <a:lnTo>
                    <a:pt x="3835685" y="1548008"/>
                  </a:lnTo>
                  <a:lnTo>
                    <a:pt x="4110376" y="1619533"/>
                  </a:lnTo>
                  <a:lnTo>
                    <a:pt x="6093145" y="1476483"/>
                  </a:lnTo>
                  <a:lnTo>
                    <a:pt x="5543763" y="1282343"/>
                  </a:lnTo>
                  <a:lnTo>
                    <a:pt x="4724684" y="1328324"/>
                  </a:lnTo>
                  <a:lnTo>
                    <a:pt x="4245224" y="940044"/>
                  </a:lnTo>
                  <a:lnTo>
                    <a:pt x="5818454" y="556874"/>
                  </a:lnTo>
                  <a:lnTo>
                    <a:pt x="4929454" y="505784"/>
                  </a:lnTo>
                  <a:lnTo>
                    <a:pt x="3835685" y="725469"/>
                  </a:lnTo>
                  <a:lnTo>
                    <a:pt x="5543763" y="725469"/>
                  </a:lnTo>
                  <a:lnTo>
                    <a:pt x="4724684" y="674379"/>
                  </a:lnTo>
                  <a:lnTo>
                    <a:pt x="4519915" y="991134"/>
                  </a:lnTo>
                  <a:lnTo>
                    <a:pt x="3560994" y="894064"/>
                  </a:lnTo>
                  <a:lnTo>
                    <a:pt x="3560994" y="771449"/>
                  </a:lnTo>
                  <a:lnTo>
                    <a:pt x="1093769" y="1425394"/>
                  </a:lnTo>
                  <a:lnTo>
                    <a:pt x="1368460" y="940044"/>
                  </a:lnTo>
                  <a:lnTo>
                    <a:pt x="1093769" y="1088204"/>
                  </a:lnTo>
                  <a:lnTo>
                    <a:pt x="754151" y="1425394"/>
                  </a:lnTo>
                  <a:lnTo>
                    <a:pt x="1573230" y="894064"/>
                  </a:lnTo>
                  <a:lnTo>
                    <a:pt x="2397303" y="362734"/>
                  </a:lnTo>
                  <a:lnTo>
                    <a:pt x="2671994" y="122614"/>
                  </a:lnTo>
                  <a:lnTo>
                    <a:pt x="339617" y="848083"/>
                  </a:lnTo>
                </a:path>
              </a:pathLst>
            </a:custGeom>
            <a:ln w="15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1831" y="4148972"/>
              <a:ext cx="90013" cy="91846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1989" y="2968805"/>
              <a:ext cx="90013" cy="91846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20294" y="4343107"/>
              <a:ext cx="159933" cy="18891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8755" y="4511700"/>
              <a:ext cx="90013" cy="9184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8677" y="4848889"/>
              <a:ext cx="90013" cy="91846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3987" y="4731382"/>
              <a:ext cx="90013" cy="9184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0830" y="5191185"/>
              <a:ext cx="90013" cy="91846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7679" y="4511694"/>
              <a:ext cx="90013" cy="91846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2371" y="4583218"/>
              <a:ext cx="90013" cy="91846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10135" y="4440166"/>
              <a:ext cx="90013" cy="91846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0754" y="4246025"/>
              <a:ext cx="90013" cy="91846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36682" y="4297113"/>
              <a:ext cx="90013" cy="91846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7222" y="3908832"/>
              <a:ext cx="90013" cy="91846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5447" y="3520551"/>
              <a:ext cx="90013" cy="91846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46449" y="3474569"/>
              <a:ext cx="90013" cy="9184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7685" y="3689143"/>
              <a:ext cx="90013" cy="91846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0759" y="3689141"/>
              <a:ext cx="90013" cy="91846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36687" y="3643159"/>
              <a:ext cx="90013" cy="9184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1918" y="3954803"/>
              <a:ext cx="90013" cy="91846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2997" y="3862840"/>
              <a:ext cx="90013" cy="91846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2998" y="3740224"/>
              <a:ext cx="90013" cy="9184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769" y="4394167"/>
              <a:ext cx="90013" cy="9184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5461" y="3908816"/>
              <a:ext cx="90013" cy="91846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771" y="4051865"/>
              <a:ext cx="90013" cy="9184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66159" y="4394162"/>
              <a:ext cx="90013" cy="91846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0233" y="3862831"/>
              <a:ext cx="90013" cy="91846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9312" y="3331500"/>
              <a:ext cx="90013" cy="91846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4004" y="3086269"/>
              <a:ext cx="90013" cy="91846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6623" y="3811737"/>
              <a:ext cx="90013" cy="91846"/>
            </a:xfrm>
            <a:prstGeom prst="rect">
              <a:avLst/>
            </a:prstGeom>
          </p:spPr>
        </p:pic>
      </p:grpSp>
      <p:sp>
        <p:nvSpPr>
          <p:cNvPr id="123" name="object 123"/>
          <p:cNvSpPr txBox="1"/>
          <p:nvPr/>
        </p:nvSpPr>
        <p:spPr>
          <a:xfrm>
            <a:off x="2419650" y="5295963"/>
            <a:ext cx="10096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50" dirty="0"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344734" y="4330373"/>
            <a:ext cx="175895" cy="671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40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spc="-25" dirty="0">
                <a:latin typeface="Arial"/>
                <a:cs typeface="Arial"/>
              </a:rPr>
              <a:t>20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344736" y="3845025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60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2269820" y="2399194"/>
            <a:ext cx="250825" cy="1156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120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spc="-25" dirty="0">
                <a:latin typeface="Arial"/>
                <a:cs typeface="Arial"/>
              </a:rPr>
              <a:t>100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Arial"/>
              <a:cs typeface="Arial"/>
            </a:endParaRPr>
          </a:p>
          <a:p>
            <a:pPr marL="86995">
              <a:lnSpc>
                <a:spcPct val="100000"/>
              </a:lnSpc>
              <a:spcBef>
                <a:spcPts val="5"/>
              </a:spcBef>
            </a:pPr>
            <a:r>
              <a:rPr sz="1050" spc="-25" dirty="0">
                <a:latin typeface="Arial"/>
                <a:cs typeface="Arial"/>
              </a:rPr>
              <a:t>80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569483" y="5459449"/>
            <a:ext cx="10096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50" dirty="0"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218752" y="5459449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3902983" y="5459449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20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587213" y="5459449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30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5276438" y="5459449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40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6644899" y="5459449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60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7329129" y="5459449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70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013359" y="5459449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80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8697588" y="5459449"/>
            <a:ext cx="17589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90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9346859" y="5459449"/>
            <a:ext cx="250190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latin typeface="Arial"/>
                <a:cs typeface="Arial"/>
              </a:rPr>
              <a:t>100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154948" y="3875678"/>
            <a:ext cx="10096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b="1" spc="-50" dirty="0">
                <a:latin typeface="Arial"/>
                <a:cs typeface="Arial"/>
              </a:rPr>
              <a:t>y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5960668" y="5379749"/>
            <a:ext cx="175895" cy="51625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050" spc="-25" dirty="0">
                <a:latin typeface="Arial"/>
                <a:cs typeface="Arial"/>
              </a:rPr>
              <a:t>50</a:t>
            </a:r>
            <a:endParaRPr sz="1050">
              <a:latin typeface="Arial"/>
              <a:cs typeface="Arial"/>
            </a:endParaRPr>
          </a:p>
          <a:p>
            <a:pPr marL="72390">
              <a:lnSpc>
                <a:spcPct val="100000"/>
              </a:lnSpc>
              <a:spcBef>
                <a:spcPts val="675"/>
              </a:spcBef>
            </a:pPr>
            <a:r>
              <a:rPr sz="1050" b="1" spc="-50" dirty="0">
                <a:latin typeface="Arial"/>
                <a:cs typeface="Arial"/>
              </a:rPr>
              <a:t>x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4752027" y="1791229"/>
            <a:ext cx="216598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b="1" dirty="0">
                <a:latin typeface="Arial"/>
                <a:cs typeface="Arial"/>
              </a:rPr>
              <a:t>TSP30</a:t>
            </a:r>
            <a:r>
              <a:rPr sz="1300" b="1" spc="-1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(Performance</a:t>
            </a:r>
            <a:r>
              <a:rPr sz="1300" b="1" spc="8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=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652)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95"/>
              </a:spcBef>
            </a:pPr>
            <a:r>
              <a:rPr dirty="0"/>
              <a:t>Best</a:t>
            </a:r>
            <a:r>
              <a:rPr spc="-95" dirty="0"/>
              <a:t> </a:t>
            </a:r>
            <a:r>
              <a:rPr dirty="0"/>
              <a:t>Solution</a:t>
            </a:r>
            <a:r>
              <a:rPr spc="-80" dirty="0"/>
              <a:t> </a:t>
            </a:r>
            <a:r>
              <a:rPr spc="-10" dirty="0"/>
              <a:t>(Distance</a:t>
            </a:r>
            <a:r>
              <a:rPr spc="-85" dirty="0"/>
              <a:t> </a:t>
            </a:r>
            <a:r>
              <a:rPr dirty="0"/>
              <a:t>=</a:t>
            </a:r>
            <a:r>
              <a:rPr spc="-110" dirty="0"/>
              <a:t> </a:t>
            </a:r>
            <a:r>
              <a:rPr spc="-20" dirty="0"/>
              <a:t>420)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256" y="1490839"/>
            <a:ext cx="6600824" cy="38953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8340" y="428816"/>
            <a:ext cx="685800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125" dirty="0"/>
              <a:t> </a:t>
            </a:r>
            <a:r>
              <a:rPr dirty="0"/>
              <a:t>2</a:t>
            </a:r>
            <a:r>
              <a:rPr spc="-130" dirty="0"/>
              <a:t> </a:t>
            </a:r>
            <a:r>
              <a:rPr spc="-35" dirty="0"/>
              <a:t>(Negnevitsky,</a:t>
            </a:r>
            <a:r>
              <a:rPr spc="-110" dirty="0"/>
              <a:t> </a:t>
            </a:r>
            <a:r>
              <a:rPr spc="-10" dirty="0"/>
              <a:t>2002)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7540" y="1567689"/>
            <a:ext cx="5349240" cy="19888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1465" marR="76835" indent="-228600" algn="just">
              <a:lnSpc>
                <a:spcPts val="3020"/>
              </a:lnSpc>
              <a:spcBef>
                <a:spcPts val="484"/>
              </a:spcBef>
              <a:buFont typeface="Arial"/>
              <a:buChar char="•"/>
              <a:tabLst>
                <a:tab pos="291465" algn="l"/>
              </a:tabLst>
            </a:pPr>
            <a:r>
              <a:rPr sz="2800" dirty="0">
                <a:latin typeface="Calibri"/>
                <a:cs typeface="Calibri"/>
              </a:rPr>
              <a:t>To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maximum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655" dirty="0">
                <a:latin typeface="Calibri"/>
                <a:cs typeface="Calibri"/>
              </a:rPr>
              <a:t>     </a:t>
            </a:r>
            <a:r>
              <a:rPr sz="2800" spc="-10" dirty="0">
                <a:latin typeface="Calibri"/>
                <a:cs typeface="Calibri"/>
              </a:rPr>
              <a:t>(15</a:t>
            </a:r>
            <a:r>
              <a:rPr sz="2800" i="1" spc="-10" dirty="0">
                <a:latin typeface="Calibri"/>
                <a:cs typeface="Calibri"/>
              </a:rPr>
              <a:t>x</a:t>
            </a:r>
            <a:r>
              <a:rPr sz="2800" spc="-10" dirty="0">
                <a:latin typeface="Calibri"/>
                <a:cs typeface="Calibri"/>
              </a:rPr>
              <a:t>-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775" i="1" baseline="25525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660" dirty="0">
                <a:latin typeface="Calibri"/>
                <a:cs typeface="Calibri"/>
              </a:rPr>
              <a:t>     </a:t>
            </a:r>
            <a:r>
              <a:rPr sz="2800" spc="-10" dirty="0">
                <a:latin typeface="Calibri"/>
                <a:cs typeface="Calibri"/>
              </a:rPr>
              <a:t>where </a:t>
            </a:r>
            <a:r>
              <a:rPr sz="2800" dirty="0">
                <a:latin typeface="Calibri"/>
                <a:cs typeface="Calibri"/>
              </a:rPr>
              <a:t>parameter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800" i="1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291465" marR="75565" algn="just">
              <a:lnSpc>
                <a:spcPts val="3020"/>
              </a:lnSpc>
              <a:spcBef>
                <a:spcPts val="10"/>
              </a:spcBef>
            </a:pPr>
            <a:r>
              <a:rPr sz="2800" dirty="0">
                <a:latin typeface="Calibri"/>
                <a:cs typeface="Calibri"/>
              </a:rPr>
              <a:t>15.</a:t>
            </a:r>
            <a:r>
              <a:rPr sz="2800" spc="4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Assumption:</a:t>
            </a:r>
            <a:r>
              <a:rPr sz="2800" spc="500" dirty="0">
                <a:latin typeface="Calibri"/>
                <a:cs typeface="Calibri"/>
              </a:rPr>
              <a:t>  </a:t>
            </a:r>
            <a:r>
              <a:rPr sz="2800" i="1" dirty="0">
                <a:latin typeface="Calibri"/>
                <a:cs typeface="Calibri"/>
              </a:rPr>
              <a:t>x</a:t>
            </a:r>
            <a:r>
              <a:rPr sz="2800" i="1" spc="4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takes</a:t>
            </a:r>
            <a:r>
              <a:rPr sz="2800" spc="50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only </a:t>
            </a:r>
            <a:r>
              <a:rPr sz="2800" dirty="0">
                <a:latin typeface="Calibri"/>
                <a:cs typeface="Calibri"/>
              </a:rPr>
              <a:t>integer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values.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57912" y="1585912"/>
          <a:ext cx="4038600" cy="487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Integer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Binary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code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0001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0010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0011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0100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0101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0110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0111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1000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1001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1010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1011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1100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1101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1110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latin typeface="Arial"/>
                          <a:cs typeface="Arial"/>
                        </a:rPr>
                        <a:t>1111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24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793112"/>
            <a:ext cx="10433685" cy="22428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79400" marR="43180" indent="-228600" algn="just">
              <a:lnSpc>
                <a:spcPts val="3020"/>
              </a:lnSpc>
              <a:spcBef>
                <a:spcPts val="484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Suppose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chromosome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population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6,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crossover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probability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</a:t>
            </a:r>
            <a:r>
              <a:rPr sz="2775" baseline="-21021" dirty="0">
                <a:latin typeface="Calibri"/>
                <a:cs typeface="Calibri"/>
              </a:rPr>
              <a:t>c</a:t>
            </a:r>
            <a:r>
              <a:rPr sz="2775" spc="240" baseline="-2102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equals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0.7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mutation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probability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</a:t>
            </a:r>
            <a:r>
              <a:rPr sz="2775" spc="-37" baseline="-21021" dirty="0">
                <a:latin typeface="Calibri"/>
                <a:cs typeface="Calibri"/>
              </a:rPr>
              <a:t>m </a:t>
            </a:r>
            <a:r>
              <a:rPr sz="2800" dirty="0">
                <a:latin typeface="Calibri"/>
                <a:cs typeface="Calibri"/>
              </a:rPr>
              <a:t>equals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0.001,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fitness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by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800" dirty="0">
              <a:latin typeface="Calibri"/>
              <a:cs typeface="Calibri"/>
            </a:endParaRPr>
          </a:p>
          <a:p>
            <a:pPr marL="2480310">
              <a:lnSpc>
                <a:spcPct val="100000"/>
              </a:lnSpc>
              <a:spcBef>
                <a:spcPts val="5"/>
              </a:spcBef>
            </a:pPr>
            <a:r>
              <a:rPr sz="2800" i="1" dirty="0">
                <a:latin typeface="Calibri"/>
                <a:cs typeface="Calibri"/>
              </a:rPr>
              <a:t>f(x)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=</a:t>
            </a:r>
            <a:r>
              <a:rPr sz="2800" i="1" spc="15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(15x-</a:t>
            </a:r>
            <a:r>
              <a:rPr sz="2800" i="1" spc="-25" dirty="0">
                <a:latin typeface="Calibri"/>
                <a:cs typeface="Calibri"/>
              </a:rPr>
              <a:t>x</a:t>
            </a:r>
            <a:r>
              <a:rPr sz="2775" i="1" spc="-37" baseline="25525" dirty="0">
                <a:latin typeface="Calibri"/>
                <a:cs typeface="Calibri"/>
              </a:rPr>
              <a:t>2</a:t>
            </a:r>
            <a:r>
              <a:rPr sz="2800" i="1" spc="-2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8340" y="428816"/>
            <a:ext cx="3856354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24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3439" y="1875324"/>
            <a:ext cx="20085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1855" algn="l"/>
              </a:tabLst>
            </a:pPr>
            <a:r>
              <a:rPr sz="2000" spc="-10" dirty="0">
                <a:latin typeface="Calibri"/>
                <a:cs typeface="Calibri"/>
              </a:rPr>
              <a:t>initial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population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4839" y="1601025"/>
            <a:ext cx="2732405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965" marR="5080" indent="-227965" algn="r">
              <a:lnSpc>
                <a:spcPts val="2280"/>
              </a:lnSpc>
              <a:spcBef>
                <a:spcPts val="95"/>
              </a:spcBef>
              <a:buFont typeface="Arial"/>
              <a:buChar char="•"/>
              <a:tabLst>
                <a:tab pos="227965" algn="l"/>
                <a:tab pos="872490" algn="l"/>
                <a:tab pos="1440180" algn="l"/>
                <a:tab pos="2450465" algn="l"/>
              </a:tabLst>
            </a:pP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GA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creates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an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ts val="2280"/>
              </a:lnSpc>
            </a:pPr>
            <a:r>
              <a:rPr sz="2000" spc="-25" dirty="0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3185" y="2149624"/>
            <a:ext cx="2503805" cy="11531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algn="just">
              <a:lnSpc>
                <a:spcPts val="2160"/>
              </a:lnSpc>
              <a:spcBef>
                <a:spcPts val="370"/>
              </a:spcBef>
            </a:pPr>
            <a:r>
              <a:rPr sz="2000" dirty="0">
                <a:latin typeface="Calibri"/>
                <a:cs typeface="Calibri"/>
              </a:rPr>
              <a:t>chromosomes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filling </a:t>
            </a:r>
            <a:r>
              <a:rPr sz="2000" dirty="0">
                <a:latin typeface="Calibri"/>
                <a:cs typeface="Calibri"/>
              </a:rPr>
              <a:t>six</a:t>
            </a:r>
            <a:r>
              <a:rPr sz="2000" spc="295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4-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30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strings</a:t>
            </a:r>
            <a:r>
              <a:rPr sz="2000" spc="295" dirty="0">
                <a:latin typeface="Calibri"/>
                <a:cs typeface="Calibri"/>
              </a:rPr>
              <a:t>  </a:t>
            </a:r>
            <a:r>
              <a:rPr sz="2000" spc="-20" dirty="0">
                <a:latin typeface="Calibri"/>
                <a:cs typeface="Calibri"/>
              </a:rPr>
              <a:t>with </a:t>
            </a:r>
            <a:r>
              <a:rPr sz="2000" dirty="0">
                <a:latin typeface="Calibri"/>
                <a:cs typeface="Calibri"/>
              </a:rPr>
              <a:t>randomly</a:t>
            </a:r>
            <a:r>
              <a:rPr sz="2000" spc="395" dirty="0">
                <a:latin typeface="Calibri"/>
                <a:cs typeface="Calibri"/>
              </a:rPr>
              <a:t>    </a:t>
            </a:r>
            <a:r>
              <a:rPr sz="2000" spc="-10" dirty="0">
                <a:latin typeface="Calibri"/>
                <a:cs typeface="Calibri"/>
              </a:rPr>
              <a:t>generated </a:t>
            </a:r>
            <a:r>
              <a:rPr sz="2000" dirty="0">
                <a:latin typeface="Calibri"/>
                <a:cs typeface="Calibri"/>
              </a:rPr>
              <a:t>ones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zeros.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857751" y="1614487"/>
          <a:ext cx="5402579" cy="4497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marL="91440" marR="142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Chromosome label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441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Chromosome string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23189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Decoded integer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435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Chromosome fitness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311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Fitness </a:t>
                      </a:r>
                      <a:r>
                        <a:rPr sz="1200" b="1" dirty="0">
                          <a:latin typeface="Arial"/>
                          <a:cs typeface="Arial"/>
                        </a:rPr>
                        <a:t>ratio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50" dirty="0">
                          <a:latin typeface="Arial"/>
                          <a:cs typeface="Arial"/>
                        </a:rPr>
                        <a:t>%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X1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1100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12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36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16.5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X2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0100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44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20.2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X3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0001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6.4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X4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1110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14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6.4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X5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0111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56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25.7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X6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1001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50" dirty="0">
                          <a:latin typeface="Arial"/>
                          <a:cs typeface="Arial"/>
                        </a:rPr>
                        <a:t>9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Arial"/>
                          <a:cs typeface="Arial"/>
                        </a:rPr>
                        <a:t>54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24.8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24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12"/>
            <a:ext cx="9749155" cy="40335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5080" indent="-228600" algn="just">
              <a:lnSpc>
                <a:spcPts val="302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Last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previous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ratio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individual </a:t>
            </a:r>
            <a:r>
              <a:rPr sz="2800" dirty="0">
                <a:latin typeface="Calibri"/>
                <a:cs typeface="Calibri"/>
              </a:rPr>
              <a:t>chromosome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fitness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populations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fitness.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64769" indent="-228600" algn="just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According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chromosomes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X5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X6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pretty </a:t>
            </a:r>
            <a:r>
              <a:rPr sz="2800" dirty="0">
                <a:latin typeface="Calibri"/>
                <a:cs typeface="Calibri"/>
              </a:rPr>
              <a:t>good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mating,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X3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X4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50" dirty="0">
                <a:latin typeface="Calibri"/>
                <a:cs typeface="Calibri"/>
              </a:rPr>
              <a:t> a </a:t>
            </a:r>
            <a:r>
              <a:rPr sz="2800" dirty="0">
                <a:latin typeface="Calibri"/>
                <a:cs typeface="Calibri"/>
              </a:rPr>
              <a:t>poor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chance.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buFont typeface="Arial"/>
              <a:buChar char="•"/>
            </a:pPr>
            <a:endParaRPr sz="2800">
              <a:latin typeface="Calibri"/>
              <a:cs typeface="Calibri"/>
            </a:endParaRPr>
          </a:p>
          <a:p>
            <a:pPr marL="241300" marR="328930" indent="-228600">
              <a:lnSpc>
                <a:spcPts val="3020"/>
              </a:lnSpc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Roulette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used </a:t>
            </a:r>
            <a:r>
              <a:rPr sz="2800" dirty="0">
                <a:latin typeface="Calibri"/>
                <a:cs typeface="Calibri"/>
              </a:rPr>
              <a:t>chromosome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62306" y="43605"/>
            <a:ext cx="7116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dirty="0">
                <a:latin typeface="Calibri"/>
                <a:cs typeface="Calibri"/>
              </a:rPr>
              <a:t>Genetic</a:t>
            </a:r>
            <a:r>
              <a:rPr sz="3200" b="0" spc="-135" dirty="0">
                <a:latin typeface="Calibri"/>
                <a:cs typeface="Calibri"/>
              </a:rPr>
              <a:t> </a:t>
            </a:r>
            <a:r>
              <a:rPr sz="3200" b="0" dirty="0">
                <a:latin typeface="Calibri"/>
                <a:cs typeface="Calibri"/>
              </a:rPr>
              <a:t>Algorithm:</a:t>
            </a:r>
            <a:r>
              <a:rPr sz="3200" b="0" spc="-125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Maximization</a:t>
            </a:r>
            <a:r>
              <a:rPr sz="3200" b="0" spc="-120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problems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9870" y="773251"/>
            <a:ext cx="6752082" cy="48098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98317" y="558114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84388" y="5581143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0985" y="5581143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98945" y="5581143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200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3130" y="5581143"/>
            <a:ext cx="1393190" cy="55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1875">
              <a:lnSpc>
                <a:spcPts val="2095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150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95"/>
              </a:lnSpc>
            </a:pPr>
            <a:r>
              <a:rPr sz="1800" spc="-10" dirty="0">
                <a:latin typeface="Calibri"/>
                <a:cs typeface="Calibri"/>
              </a:rPr>
              <a:t>Generations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4092" y="5080279"/>
            <a:ext cx="254000" cy="3276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-25" dirty="0">
                <a:latin typeface="Calibri"/>
                <a:cs typeface="Calibri"/>
              </a:rPr>
              <a:t>70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4092" y="4008831"/>
            <a:ext cx="254000" cy="3276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-25" dirty="0">
                <a:latin typeface="Calibri"/>
                <a:cs typeface="Calibri"/>
              </a:rPr>
              <a:t>60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14092" y="3131007"/>
            <a:ext cx="254000" cy="3276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-25" dirty="0">
                <a:latin typeface="Calibri"/>
                <a:cs typeface="Calibri"/>
              </a:rPr>
              <a:t>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4092" y="2200605"/>
            <a:ext cx="254000" cy="3276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latin typeface="Calibri"/>
                <a:cs typeface="Calibri"/>
              </a:rPr>
              <a:t>-</a:t>
            </a:r>
            <a:r>
              <a:rPr sz="1800" spc="-25" dirty="0">
                <a:latin typeface="Calibri"/>
                <a:cs typeface="Calibri"/>
              </a:rPr>
              <a:t>40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93165" y="2803332"/>
            <a:ext cx="254000" cy="13836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Fitness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criteria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10584"/>
            <a:ext cx="57289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Network</a:t>
            </a:r>
            <a:r>
              <a:rPr spc="-195" dirty="0"/>
              <a:t> </a:t>
            </a:r>
            <a:r>
              <a:rPr dirty="0"/>
              <a:t>routing</a:t>
            </a:r>
            <a:r>
              <a:rPr spc="-204" dirty="0"/>
              <a:t> </a:t>
            </a:r>
            <a:r>
              <a:rPr spc="-10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320" y="3678089"/>
            <a:ext cx="4167820" cy="26994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5121" y="1504025"/>
            <a:ext cx="790067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Consider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nodes.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shortest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starting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destination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GA. </a:t>
            </a:r>
            <a:r>
              <a:rPr sz="1800" spc="-10" dirty="0">
                <a:latin typeface="Calibri"/>
                <a:cs typeface="Calibri"/>
              </a:rPr>
              <a:t>Minimization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Maximization?</a:t>
            </a:r>
            <a:endParaRPr sz="1800">
              <a:latin typeface="Calibri"/>
              <a:cs typeface="Calibri"/>
            </a:endParaRPr>
          </a:p>
          <a:p>
            <a:pPr marL="12700" marR="2224405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chromosome?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numbers?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fitness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1066" y="403165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4471C4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1168" y="5120706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28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5888" y="4463481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16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7757" y="5157053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45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7093" y="4727056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23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0405" y="4031655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18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91620" y="409177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2736" y="5208716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27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53520" y="4304375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58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4725" y="4517201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43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35157" y="518288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4471C4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5214" y="5956696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25783" y="5047325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152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72674" y="4049486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29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10584"/>
            <a:ext cx="61601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190" dirty="0"/>
              <a:t> </a:t>
            </a:r>
            <a:r>
              <a:rPr dirty="0"/>
              <a:t>Image</a:t>
            </a:r>
            <a:r>
              <a:rPr spc="-185" dirty="0"/>
              <a:t> </a:t>
            </a:r>
            <a:r>
              <a:rPr spc="-10" dirty="0"/>
              <a:t>application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64127" y="2847972"/>
            <a:ext cx="1838960" cy="76200"/>
            <a:chOff x="4064127" y="2847972"/>
            <a:chExt cx="1838960" cy="76200"/>
          </a:xfrm>
        </p:grpSpPr>
        <p:sp>
          <p:nvSpPr>
            <p:cNvPr id="4" name="object 4"/>
            <p:cNvSpPr/>
            <p:nvPr/>
          </p:nvSpPr>
          <p:spPr>
            <a:xfrm>
              <a:off x="4064127" y="2886075"/>
              <a:ext cx="1775460" cy="0"/>
            </a:xfrm>
            <a:custGeom>
              <a:avLst/>
              <a:gdLst/>
              <a:ahLst/>
              <a:cxnLst/>
              <a:rect l="l" t="t" r="r" b="b"/>
              <a:pathLst>
                <a:path w="1775460">
                  <a:moveTo>
                    <a:pt x="0" y="0"/>
                  </a:moveTo>
                  <a:lnTo>
                    <a:pt x="177546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26888" y="28479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64127" y="2886075"/>
              <a:ext cx="1775460" cy="0"/>
            </a:xfrm>
            <a:custGeom>
              <a:avLst/>
              <a:gdLst/>
              <a:ahLst/>
              <a:cxnLst/>
              <a:rect l="l" t="t" r="r" b="b"/>
              <a:pathLst>
                <a:path w="1775460">
                  <a:moveTo>
                    <a:pt x="0" y="0"/>
                  </a:moveTo>
                  <a:lnTo>
                    <a:pt x="177546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26888" y="28479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77339" y="4613973"/>
            <a:ext cx="1137920" cy="78486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925"/>
              </a:spcBef>
            </a:pPr>
            <a:r>
              <a:rPr sz="1800" spc="-25" dirty="0">
                <a:latin typeface="Calibri"/>
                <a:cs typeface="Calibri"/>
              </a:rPr>
              <a:t>200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0956" y="1777619"/>
            <a:ext cx="2644169" cy="26520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23380" y="5042661"/>
            <a:ext cx="1217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Target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69232" y="2516403"/>
            <a:ext cx="1751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Genetic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91177" y="1409321"/>
            <a:ext cx="554990" cy="1096010"/>
            <a:chOff x="4591177" y="1409321"/>
            <a:chExt cx="554990" cy="1096010"/>
          </a:xfrm>
        </p:grpSpPr>
        <p:sp>
          <p:nvSpPr>
            <p:cNvPr id="13" name="object 13"/>
            <p:cNvSpPr/>
            <p:nvPr/>
          </p:nvSpPr>
          <p:spPr>
            <a:xfrm>
              <a:off x="4597527" y="1466030"/>
              <a:ext cx="520700" cy="1032510"/>
            </a:xfrm>
            <a:custGeom>
              <a:avLst/>
              <a:gdLst/>
              <a:ahLst/>
              <a:cxnLst/>
              <a:rect l="l" t="t" r="r" b="b"/>
              <a:pathLst>
                <a:path w="520700" h="1032510">
                  <a:moveTo>
                    <a:pt x="0" y="1032471"/>
                  </a:moveTo>
                  <a:lnTo>
                    <a:pt x="52007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7858" y="1409321"/>
              <a:ext cx="68580" cy="85725"/>
            </a:xfrm>
            <a:custGeom>
              <a:avLst/>
              <a:gdLst/>
              <a:ahLst/>
              <a:cxnLst/>
              <a:rect l="l" t="t" r="r" b="b"/>
              <a:pathLst>
                <a:path w="68579" h="85725">
                  <a:moveTo>
                    <a:pt x="68313" y="0"/>
                  </a:moveTo>
                  <a:lnTo>
                    <a:pt x="0" y="50914"/>
                  </a:lnTo>
                  <a:lnTo>
                    <a:pt x="68059" y="85191"/>
                  </a:lnTo>
                  <a:lnTo>
                    <a:pt x="683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61940" y="1125982"/>
            <a:ext cx="2726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How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design?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parameters?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509" y="5631916"/>
            <a:ext cx="56807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Minimization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Maximization problem?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chromosome?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numbers?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fitness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3722" y="1652597"/>
            <a:ext cx="2940819" cy="294116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37820" y="2885725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25109" y="3040716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300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36714" y="4534389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200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2543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202429"/>
                </a:solidFill>
                <a:latin typeface="Georgia"/>
                <a:cs typeface="Georgia"/>
              </a:rPr>
              <a:t>Genetic</a:t>
            </a:r>
            <a:r>
              <a:rPr b="0" spc="-145" dirty="0">
                <a:solidFill>
                  <a:srgbClr val="202429"/>
                </a:solidFill>
                <a:latin typeface="Georgia"/>
                <a:cs typeface="Georgia"/>
              </a:rPr>
              <a:t> </a:t>
            </a:r>
            <a:r>
              <a:rPr b="0" dirty="0">
                <a:solidFill>
                  <a:srgbClr val="202429"/>
                </a:solidFill>
                <a:latin typeface="Georgia"/>
                <a:cs typeface="Georgia"/>
              </a:rPr>
              <a:t>Algorithm</a:t>
            </a:r>
            <a:r>
              <a:rPr b="0" spc="-140" dirty="0">
                <a:solidFill>
                  <a:srgbClr val="202429"/>
                </a:solidFill>
                <a:latin typeface="Georgia"/>
                <a:cs typeface="Georgia"/>
              </a:rPr>
              <a:t> </a:t>
            </a:r>
            <a:r>
              <a:rPr b="0" spc="-20" dirty="0">
                <a:solidFill>
                  <a:srgbClr val="202429"/>
                </a:solidFill>
                <a:latin typeface="Georgia"/>
                <a:cs typeface="Georgia"/>
              </a:rPr>
              <a:t>Hyper-</a:t>
            </a:r>
            <a:r>
              <a:rPr b="0" spc="-10" dirty="0">
                <a:solidFill>
                  <a:srgbClr val="202429"/>
                </a:solidFill>
                <a:latin typeface="Georgia"/>
                <a:cs typeface="Georgia"/>
              </a:rPr>
              <a:t>parameters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41300" marR="89535" indent="-228600">
              <a:lnSpc>
                <a:spcPct val="70000"/>
              </a:lnSpc>
              <a:spcBef>
                <a:spcPts val="81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Genetic</a:t>
            </a:r>
            <a:r>
              <a:rPr spc="-30" dirty="0"/>
              <a:t> </a:t>
            </a:r>
            <a:r>
              <a:rPr dirty="0"/>
              <a:t>Algorithm</a:t>
            </a:r>
            <a:r>
              <a:rPr spc="-30" dirty="0"/>
              <a:t> </a:t>
            </a:r>
            <a:r>
              <a:rPr dirty="0"/>
              <a:t>has</a:t>
            </a:r>
            <a:r>
              <a:rPr spc="-35" dirty="0"/>
              <a:t> </a:t>
            </a:r>
            <a:r>
              <a:rPr dirty="0"/>
              <a:t>several</a:t>
            </a:r>
            <a:r>
              <a:rPr spc="-25" dirty="0"/>
              <a:t> </a:t>
            </a:r>
            <a:r>
              <a:rPr dirty="0"/>
              <a:t>parameters</a:t>
            </a:r>
            <a:r>
              <a:rPr spc="-15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can</a:t>
            </a:r>
            <a:r>
              <a:rPr spc="-20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dirty="0"/>
              <a:t>tuned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obtain</a:t>
            </a:r>
            <a:r>
              <a:rPr spc="-20" dirty="0"/>
              <a:t> </a:t>
            </a:r>
            <a:r>
              <a:rPr dirty="0"/>
              <a:t>better</a:t>
            </a:r>
            <a:r>
              <a:rPr spc="-30" dirty="0"/>
              <a:t> </a:t>
            </a:r>
            <a:r>
              <a:rPr dirty="0"/>
              <a:t>results.</a:t>
            </a:r>
            <a:r>
              <a:rPr spc="-35" dirty="0"/>
              <a:t> </a:t>
            </a:r>
            <a:r>
              <a:rPr spc="-25" dirty="0"/>
              <a:t>The </a:t>
            </a:r>
            <a:r>
              <a:rPr dirty="0"/>
              <a:t>set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parameters</a:t>
            </a:r>
            <a:r>
              <a:rPr spc="-1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called</a:t>
            </a:r>
            <a:r>
              <a:rPr spc="-5" dirty="0"/>
              <a:t> </a:t>
            </a:r>
            <a:r>
              <a:rPr spc="-10" dirty="0"/>
              <a:t>Hyper-</a:t>
            </a:r>
            <a:r>
              <a:rPr dirty="0"/>
              <a:t>parameters.</a:t>
            </a:r>
            <a:r>
              <a:rPr spc="-1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most</a:t>
            </a:r>
            <a:r>
              <a:rPr spc="-30" dirty="0"/>
              <a:t> </a:t>
            </a:r>
            <a:r>
              <a:rPr dirty="0"/>
              <a:t>important</a:t>
            </a:r>
            <a:r>
              <a:rPr spc="-20" dirty="0"/>
              <a:t> hyper-</a:t>
            </a:r>
            <a:r>
              <a:rPr dirty="0"/>
              <a:t>parameters</a:t>
            </a:r>
            <a:r>
              <a:rPr spc="-10" dirty="0"/>
              <a:t> </a:t>
            </a:r>
            <a:r>
              <a:rPr spc="-20" dirty="0"/>
              <a:t>are:</a:t>
            </a:r>
          </a:p>
          <a:p>
            <a:pPr>
              <a:lnSpc>
                <a:spcPct val="100000"/>
              </a:lnSpc>
              <a:spcBef>
                <a:spcPts val="685"/>
              </a:spcBef>
              <a:buClr>
                <a:srgbClr val="202429"/>
              </a:buClr>
              <a:buFont typeface="Arial"/>
              <a:buChar char="•"/>
            </a:pPr>
            <a:endParaRPr spc="-20" dirty="0"/>
          </a:p>
          <a:p>
            <a:pPr marL="240665" indent="-227965">
              <a:lnSpc>
                <a:spcPts val="2039"/>
              </a:lnSpc>
              <a:buFont typeface="Arial"/>
              <a:buChar char="•"/>
              <a:tabLst>
                <a:tab pos="240665" algn="l"/>
              </a:tabLst>
            </a:pPr>
            <a:r>
              <a:rPr b="1" dirty="0">
                <a:latin typeface="Georgia"/>
                <a:cs typeface="Georgia"/>
              </a:rPr>
              <a:t>Population</a:t>
            </a:r>
            <a:r>
              <a:rPr b="1" spc="-35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size</a:t>
            </a:r>
            <a:r>
              <a:rPr dirty="0"/>
              <a:t>:</a:t>
            </a:r>
            <a:r>
              <a:rPr spc="-40" dirty="0"/>
              <a:t> </a:t>
            </a:r>
            <a:r>
              <a:rPr dirty="0"/>
              <a:t>number</a:t>
            </a:r>
            <a:r>
              <a:rPr spc="-2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chromosomes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population.</a:t>
            </a:r>
            <a:r>
              <a:rPr spc="-45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dirty="0"/>
              <a:t>parameter</a:t>
            </a:r>
            <a:r>
              <a:rPr spc="-25" dirty="0"/>
              <a:t> </a:t>
            </a:r>
            <a:r>
              <a:rPr spc="-10" dirty="0"/>
              <a:t>impacts</a:t>
            </a:r>
          </a:p>
          <a:p>
            <a:pPr marL="240665" marR="576580">
              <a:lnSpc>
                <a:spcPct val="70000"/>
              </a:lnSpc>
              <a:spcBef>
                <a:spcPts val="36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algorithm</a:t>
            </a:r>
            <a:r>
              <a:rPr spc="-30" dirty="0"/>
              <a:t> </a:t>
            </a:r>
            <a:r>
              <a:rPr dirty="0"/>
              <a:t>running</a:t>
            </a:r>
            <a:r>
              <a:rPr spc="-15" dirty="0"/>
              <a:t> </a:t>
            </a:r>
            <a:r>
              <a:rPr dirty="0"/>
              <a:t>time.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more</a:t>
            </a:r>
            <a:r>
              <a:rPr spc="-30" dirty="0"/>
              <a:t> </a:t>
            </a:r>
            <a:r>
              <a:rPr dirty="0"/>
              <a:t>chromosomes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population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longer</a:t>
            </a:r>
            <a:r>
              <a:rPr spc="-25" dirty="0"/>
              <a:t> the </a:t>
            </a:r>
            <a:r>
              <a:rPr dirty="0"/>
              <a:t>algorithm</a:t>
            </a:r>
            <a:r>
              <a:rPr spc="-45" dirty="0"/>
              <a:t> </a:t>
            </a:r>
            <a:r>
              <a:rPr dirty="0"/>
              <a:t>will</a:t>
            </a:r>
            <a:r>
              <a:rPr spc="-35" dirty="0"/>
              <a:t> </a:t>
            </a:r>
            <a:r>
              <a:rPr spc="-20" dirty="0"/>
              <a:t>take.</a:t>
            </a: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pc="-20" dirty="0"/>
          </a:p>
          <a:p>
            <a:pPr marL="241300" marR="417195" indent="-229235">
              <a:lnSpc>
                <a:spcPct val="7000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b="1" dirty="0">
                <a:latin typeface="Georgia"/>
                <a:cs typeface="Georgia"/>
              </a:rPr>
              <a:t>Crossover</a:t>
            </a:r>
            <a:r>
              <a:rPr b="1" spc="-4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rate</a:t>
            </a:r>
            <a:r>
              <a:rPr dirty="0"/>
              <a:t>:</a:t>
            </a:r>
            <a:r>
              <a:rPr spc="-40" dirty="0"/>
              <a:t> </a:t>
            </a:r>
            <a:r>
              <a:rPr dirty="0"/>
              <a:t>percentage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chromosomes</a:t>
            </a:r>
            <a:r>
              <a:rPr spc="-40" dirty="0"/>
              <a:t> </a:t>
            </a:r>
            <a:r>
              <a:rPr dirty="0"/>
              <a:t>selected</a:t>
            </a:r>
            <a:r>
              <a:rPr spc="-40" dirty="0"/>
              <a:t> </a:t>
            </a:r>
            <a:r>
              <a:rPr dirty="0"/>
              <a:t>from</a:t>
            </a:r>
            <a:r>
              <a:rPr spc="-35" dirty="0"/>
              <a:t> </a:t>
            </a:r>
            <a:r>
              <a:rPr dirty="0"/>
              <a:t>generation</a:t>
            </a:r>
            <a:r>
              <a:rPr spc="-25" dirty="0"/>
              <a:t> </a:t>
            </a:r>
            <a:r>
              <a:rPr i="1" dirty="0">
                <a:latin typeface="Georgia"/>
                <a:cs typeface="Georgia"/>
              </a:rPr>
              <a:t>t</a:t>
            </a:r>
            <a:r>
              <a:rPr i="1" spc="-35" dirty="0">
                <a:latin typeface="Georgia"/>
                <a:cs typeface="Georgia"/>
              </a:rPr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spc="-25" dirty="0"/>
              <a:t>in </a:t>
            </a:r>
            <a:r>
              <a:rPr dirty="0"/>
              <a:t>generation</a:t>
            </a:r>
            <a:r>
              <a:rPr spc="-30" dirty="0"/>
              <a:t> </a:t>
            </a:r>
            <a:r>
              <a:rPr i="1" dirty="0">
                <a:latin typeface="Georgia"/>
                <a:cs typeface="Georgia"/>
              </a:rPr>
              <a:t>t+1</a:t>
            </a:r>
            <a:r>
              <a:rPr i="1" spc="-30" dirty="0">
                <a:latin typeface="Georgia"/>
                <a:cs typeface="Georgia"/>
              </a:rPr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10" dirty="0"/>
              <a:t>reproduction.</a:t>
            </a:r>
          </a:p>
          <a:p>
            <a:pPr>
              <a:lnSpc>
                <a:spcPct val="100000"/>
              </a:lnSpc>
              <a:spcBef>
                <a:spcPts val="680"/>
              </a:spcBef>
              <a:buClr>
                <a:srgbClr val="202429"/>
              </a:buClr>
              <a:buFont typeface="Arial"/>
              <a:buChar char="•"/>
            </a:pPr>
            <a:endParaRPr spc="-10" dirty="0"/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b="1" dirty="0">
                <a:latin typeface="Georgia"/>
                <a:cs typeface="Georgia"/>
              </a:rPr>
              <a:t>Mutation</a:t>
            </a:r>
            <a:r>
              <a:rPr b="1" spc="-4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rate</a:t>
            </a:r>
            <a:r>
              <a:rPr dirty="0"/>
              <a:t>:</a:t>
            </a:r>
            <a:r>
              <a:rPr spc="-55" dirty="0"/>
              <a:t> </a:t>
            </a:r>
            <a:r>
              <a:rPr dirty="0"/>
              <a:t>probability</a:t>
            </a:r>
            <a:r>
              <a:rPr spc="-30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chromosome</a:t>
            </a:r>
            <a:r>
              <a:rPr spc="-50" dirty="0"/>
              <a:t> </a:t>
            </a:r>
            <a:r>
              <a:rPr spc="-10" dirty="0"/>
              <a:t>mutates.</a:t>
            </a:r>
          </a:p>
          <a:p>
            <a:pPr>
              <a:lnSpc>
                <a:spcPct val="100000"/>
              </a:lnSpc>
              <a:spcBef>
                <a:spcPts val="1405"/>
              </a:spcBef>
              <a:buClr>
                <a:srgbClr val="202429"/>
              </a:buClr>
              <a:buFont typeface="Arial"/>
              <a:buChar char="•"/>
            </a:pPr>
            <a:endParaRPr spc="-10" dirty="0"/>
          </a:p>
          <a:p>
            <a:pPr marL="241300" marR="5080" indent="-228600">
              <a:lnSpc>
                <a:spcPct val="70000"/>
              </a:lnSpc>
              <a:buFont typeface="Arial"/>
              <a:buChar char="•"/>
              <a:tabLst>
                <a:tab pos="241300" algn="l"/>
              </a:tabLst>
            </a:pPr>
            <a:r>
              <a:rPr b="1" dirty="0">
                <a:latin typeface="Georgia"/>
                <a:cs typeface="Georgia"/>
              </a:rPr>
              <a:t>Generation</a:t>
            </a:r>
            <a:r>
              <a:rPr b="1" spc="-4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number</a:t>
            </a:r>
            <a:r>
              <a:rPr dirty="0"/>
              <a:t>:</a:t>
            </a:r>
            <a:r>
              <a:rPr spc="-35" dirty="0"/>
              <a:t> </a:t>
            </a:r>
            <a:r>
              <a:rPr dirty="0"/>
              <a:t>number</a:t>
            </a:r>
            <a:r>
              <a:rPr spc="-1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iterations</a:t>
            </a:r>
            <a:r>
              <a:rPr spc="-2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algorithm</a:t>
            </a:r>
            <a:r>
              <a:rPr spc="-30" dirty="0"/>
              <a:t> </a:t>
            </a:r>
            <a:r>
              <a:rPr dirty="0"/>
              <a:t>before</a:t>
            </a:r>
            <a:r>
              <a:rPr spc="-30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stops.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running </a:t>
            </a:r>
            <a:r>
              <a:rPr dirty="0"/>
              <a:t>time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also</a:t>
            </a:r>
            <a:r>
              <a:rPr spc="-20" dirty="0"/>
              <a:t> </a:t>
            </a:r>
            <a:r>
              <a:rPr dirty="0"/>
              <a:t>directly</a:t>
            </a:r>
            <a:r>
              <a:rPr spc="-10" dirty="0"/>
              <a:t> </a:t>
            </a:r>
            <a:r>
              <a:rPr dirty="0"/>
              <a:t>impacted</a:t>
            </a:r>
            <a:r>
              <a:rPr spc="-20" dirty="0"/>
              <a:t> </a:t>
            </a:r>
            <a:r>
              <a:rPr dirty="0"/>
              <a:t>by</a:t>
            </a:r>
            <a:r>
              <a:rPr spc="-10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spc="-10" dirty="0"/>
              <a:t>parameter.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Issues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GA</a:t>
            </a:r>
            <a:r>
              <a:rPr spc="-90" dirty="0"/>
              <a:t> </a:t>
            </a:r>
            <a:r>
              <a:rPr spc="-10" dirty="0"/>
              <a:t>Practitioners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7883"/>
            <a:ext cx="9615805" cy="39757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Choosing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basic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implementation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issues: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population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mutation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...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selection,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deletion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policies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30" dirty="0">
                <a:latin typeface="Calibri"/>
                <a:cs typeface="Calibri"/>
              </a:rPr>
              <a:t>crossover,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mutation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operators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25" dirty="0">
                <a:latin typeface="Calibri"/>
                <a:cs typeface="Calibri"/>
              </a:rPr>
              <a:t>Termination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Criteria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Performance,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scalability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Solution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good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evaluation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(often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hardest part)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258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95"/>
              </a:spcBef>
            </a:pPr>
            <a:r>
              <a:rPr dirty="0"/>
              <a:t>Benefits</a:t>
            </a:r>
            <a:r>
              <a:rPr spc="-13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Genetic</a:t>
            </a:r>
            <a:r>
              <a:rPr spc="-114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7780" y="1774875"/>
            <a:ext cx="7153275" cy="30918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understand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30" dirty="0">
                <a:latin typeface="Calibri"/>
                <a:cs typeface="Calibri"/>
              </a:rPr>
              <a:t>Modular,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separate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Supports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multi-</a:t>
            </a:r>
            <a:r>
              <a:rPr sz="2800" dirty="0">
                <a:latin typeface="Calibri"/>
                <a:cs typeface="Calibri"/>
              </a:rPr>
              <a:t>objective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optimization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Good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“noisy”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environments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Always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answer;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answer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better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Inherently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parallel;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easily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distributed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1881" rIns="0" bIns="0" rtlCol="0">
            <a:spAutoFit/>
          </a:bodyPr>
          <a:lstStyle/>
          <a:p>
            <a:pPr marL="432434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Benefits</a:t>
            </a:r>
            <a:r>
              <a:rPr sz="3600" spc="-95" dirty="0"/>
              <a:t> </a:t>
            </a:r>
            <a:r>
              <a:rPr sz="3600" dirty="0"/>
              <a:t>of</a:t>
            </a:r>
            <a:r>
              <a:rPr sz="3600" spc="-100" dirty="0"/>
              <a:t> </a:t>
            </a:r>
            <a:r>
              <a:rPr sz="3600" dirty="0"/>
              <a:t>Genetic</a:t>
            </a:r>
            <a:r>
              <a:rPr sz="3600" spc="-85" dirty="0"/>
              <a:t> </a:t>
            </a:r>
            <a:r>
              <a:rPr sz="3600" dirty="0"/>
              <a:t>Algorithms</a:t>
            </a:r>
            <a:r>
              <a:rPr sz="3600" spc="-90" dirty="0"/>
              <a:t> </a:t>
            </a:r>
            <a:r>
              <a:rPr sz="3600" spc="-10" dirty="0"/>
              <a:t>(cont.)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793112"/>
            <a:ext cx="9342120" cy="23698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4"/>
              </a:spcBef>
              <a:buFont typeface="Arial"/>
              <a:buChar char="•"/>
              <a:tabLst>
                <a:tab pos="241300" algn="l"/>
                <a:tab pos="2908300" algn="l"/>
              </a:tabLst>
            </a:pPr>
            <a:r>
              <a:rPr sz="2800" dirty="0">
                <a:latin typeface="Calibri"/>
                <a:cs typeface="Calibri"/>
              </a:rPr>
              <a:t>Many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GA-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knowledge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about</a:t>
            </a:r>
            <a:r>
              <a:rPr sz="2800" dirty="0">
                <a:latin typeface="Calibri"/>
                <a:cs typeface="Calibri"/>
              </a:rPr>
              <a:t>	problem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domain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gained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Easy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exploit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previous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alternate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solutions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Flexible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hybrid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Substantial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history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range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97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When</a:t>
            </a:r>
            <a:r>
              <a:rPr spc="-6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Use</a:t>
            </a:r>
            <a:r>
              <a:rPr spc="-6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25" dirty="0"/>
              <a:t>GA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1274"/>
            <a:ext cx="10311130" cy="279908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85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Alternate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solutions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slow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complicated</a:t>
            </a:r>
            <a:endParaRPr sz="2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Need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exploratory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tool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examine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approaches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Problem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similar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already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been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successfully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solved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using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GA</a:t>
            </a:r>
            <a:endParaRPr sz="2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0665" algn="l"/>
              </a:tabLst>
            </a:pPr>
            <a:r>
              <a:rPr sz="2600" spc="-10" dirty="0">
                <a:latin typeface="Calibri"/>
                <a:cs typeface="Calibri"/>
              </a:rPr>
              <a:t>Want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hybridize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existing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solution</a:t>
            </a:r>
            <a:endParaRPr sz="2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Benefits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technology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meet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key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requirements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3476" y="3326257"/>
            <a:ext cx="33039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dirty="0">
                <a:latin typeface="Calibri"/>
                <a:cs typeface="Calibri"/>
              </a:rPr>
              <a:t>Thank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you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for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listening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1491</TotalTime>
  <Words>2671</Words>
  <Application>Microsoft Office PowerPoint</Application>
  <PresentationFormat>Widescreen</PresentationFormat>
  <Paragraphs>609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Aptos</vt:lpstr>
      <vt:lpstr>Arial</vt:lpstr>
      <vt:lpstr>Calibri</vt:lpstr>
      <vt:lpstr>Calibri Light</vt:lpstr>
      <vt:lpstr>Garamond</vt:lpstr>
      <vt:lpstr>Georgia</vt:lpstr>
      <vt:lpstr>Times New Roman</vt:lpstr>
      <vt:lpstr>Wingdings</vt:lpstr>
      <vt:lpstr>Office Theme</vt:lpstr>
      <vt:lpstr>Optimization  And  Genetic Algorithm  Dr. Thi My Chinh Chu Dr. Huseyin Kusetogullari</vt:lpstr>
      <vt:lpstr>Simulation of natural evolution</vt:lpstr>
      <vt:lpstr>Evolutionary Computing</vt:lpstr>
      <vt:lpstr>Biological Background</vt:lpstr>
      <vt:lpstr>Evolutionary Algorithms</vt:lpstr>
      <vt:lpstr>Genetic algorithms Quick Overview</vt:lpstr>
      <vt:lpstr>Genetic Algorithm</vt:lpstr>
      <vt:lpstr>Genetic Algorithm: Optimization</vt:lpstr>
      <vt:lpstr>Genetic Algorithm: Optimization</vt:lpstr>
      <vt:lpstr>Used mainly in</vt:lpstr>
      <vt:lpstr>Summary: Genetic Algorithms</vt:lpstr>
      <vt:lpstr>Components of a GA</vt:lpstr>
      <vt:lpstr>Genetic Algorithm</vt:lpstr>
      <vt:lpstr>Genetic algorithms</vt:lpstr>
      <vt:lpstr>Representation</vt:lpstr>
      <vt:lpstr>Initial population</vt:lpstr>
      <vt:lpstr>Fitness function</vt:lpstr>
      <vt:lpstr>Evaluation</vt:lpstr>
      <vt:lpstr>Population</vt:lpstr>
      <vt:lpstr>Chromosome Modification: Reproduction</vt:lpstr>
      <vt:lpstr>Crossover: Single-point</vt:lpstr>
      <vt:lpstr>Examples</vt:lpstr>
      <vt:lpstr>Crossover: two-point</vt:lpstr>
      <vt:lpstr>Uniform crossover</vt:lpstr>
      <vt:lpstr>Mutation: Local Modification</vt:lpstr>
      <vt:lpstr>Mutation</vt:lpstr>
      <vt:lpstr>Selection: Roulette Wheel Selection</vt:lpstr>
      <vt:lpstr>Rank Selection</vt:lpstr>
      <vt:lpstr>Cont.</vt:lpstr>
      <vt:lpstr>Deletion</vt:lpstr>
      <vt:lpstr>Using Genetic Algorithm to Solve Optimization Problems</vt:lpstr>
      <vt:lpstr>A Simple Example</vt:lpstr>
      <vt:lpstr>Representation</vt:lpstr>
      <vt:lpstr>Crossover</vt:lpstr>
      <vt:lpstr>Permutation Crossover in GA for TSP </vt:lpstr>
      <vt:lpstr>An Example of Partially Mapped Crossover</vt:lpstr>
      <vt:lpstr>An Example of Order Crossover</vt:lpstr>
      <vt:lpstr>TSP Example: 30 Cities</vt:lpstr>
      <vt:lpstr>Solution (Distance = 941)</vt:lpstr>
      <vt:lpstr>Solution (Distance = 800)</vt:lpstr>
      <vt:lpstr>Solution (Distance = 652)</vt:lpstr>
      <vt:lpstr>Best Solution (Distance = 420)</vt:lpstr>
      <vt:lpstr>Example 2 (Negnevitsky, 2002)</vt:lpstr>
      <vt:lpstr>Example (Contd.)</vt:lpstr>
      <vt:lpstr>Example (Contd.)</vt:lpstr>
      <vt:lpstr>Example (Cont.)</vt:lpstr>
      <vt:lpstr>Genetic Algorithm: Maximization problems</vt:lpstr>
      <vt:lpstr>Network routing problem</vt:lpstr>
      <vt:lpstr>Example: Image application</vt:lpstr>
      <vt:lpstr>Genetic Algorithm Hyper-parameters</vt:lpstr>
      <vt:lpstr>Issues for GA Practitioners</vt:lpstr>
      <vt:lpstr>Benefits of Genetic Algorithms</vt:lpstr>
      <vt:lpstr>Benefits of Genetic Algorithms (cont.)</vt:lpstr>
      <vt:lpstr>When to Use a GA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 and Search in Artificial Intelligence</dc:title>
  <dc:creator>Husam Kuset</dc:creator>
  <cp:lastModifiedBy>Thi My Chinh Chu</cp:lastModifiedBy>
  <cp:revision>109</cp:revision>
  <dcterms:created xsi:type="dcterms:W3CDTF">2026-08-24T10:44:58Z</dcterms:created>
  <dcterms:modified xsi:type="dcterms:W3CDTF">2026-09-07T08:24:02Z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2023-09-08T00:00:00Z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2026-08-24T00:00:00Z</vt:filetime>
  </property>
  <property fmtid="{D5CDD505-2E9C-101B-9397-08002B2CF9AE}" pid="5" name="Producer">
    <vt:lpwstr>Adobe PDF Library 20.5.50</vt:lpwstr>
  </property>
</Properties>
</file>